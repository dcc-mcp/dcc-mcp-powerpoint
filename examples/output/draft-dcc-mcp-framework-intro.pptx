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开场：DCC-MCP 是一个面向数字内容创作工具的统一 MCP 网关生态。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第一部分：框架是什么、架构长什么样、生态现状。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四个要点：统一网关、薄适配器、渐进式发现、技能包机制。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自上而下五层：客户端、Rust 网关、Sidecar 生命周期层、适配器 RPC 层、DCC 应用层。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能力设计哲学：任务级、契约化、渐进式。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数字来自仓库清单与各适配器 AGENTS.md，均为可核实的保守口径。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第二部分：一次调用如何走完发现、执行、批处理与产物闭环。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五步：发现 → 加载 → 调用 → 作业 → 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第三部分：Office 域如何复用同一套控制面，形成双后端执行模型。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PPT 即由该流程生成：Deck IR → Open XML 编译 → COM 渲染。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两条主线：执行路径有明确优先级，能力面保持任务级抽象。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收尾：欢迎共建适配器与技能包。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81160" y="4434840"/>
            <a:ext cx="2788920" cy="228600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cc-mcp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85800"/>
            <a:ext cx="12344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651760"/>
            <a:ext cx="941832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5400" b="1">
                <a:solidFill>
                  <a:srgbClr val="E8ECF2"/>
                </a:solidFill>
                <a:latin typeface="Segoe UI"/>
                <a:ea typeface="Microsoft YaHei"/>
              </a:rPr>
              <a:t>DCC-MCP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7568" y="3977639"/>
            <a:ext cx="822960" cy="508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251960"/>
            <a:ext cx="9418320" cy="9144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Microsoft YaHei"/>
              </a:rPr>
              <a:t>多 DCC 统一智能体网关框架</a:t>
            </a:r>
          </a:p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Microsoft YaHei"/>
              </a:rPr>
              <a:t>让 AI 进入每一个创作工具 · Maya / Blender / Houdini / Photoshop / Unity / Office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6263640"/>
            <a:ext cx="9418320" cy="32004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</a:rPr>
              <a:t>DCC-MCP 框架介绍 · draft:dcc-mcp-framework-intro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20040"/>
            <a:ext cx="2468880" cy="246888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框架总览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什么是 DCC-MCP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783080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627632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面向数字内容创作（DCC）工具的统一 MCP 网关生态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96312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715768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560320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一个 DCC 一个适配器仓库：Maya、Blender、Houdini、Photoshop、Unity、Office…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29000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648456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493008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统一的能力发现机制：list → search → load_skill →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61688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4581144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25696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Skills 机制：把稳定流程固化为可复用的技能包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48840" y="181965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67335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Agent / MCP Client / IDE / CI</a:t>
            </a:r>
          </a:p>
        </p:txBody>
      </p:sp>
      <p:sp>
        <p:nvSpPr>
          <p:cNvPr id="7" name="Oval 6"/>
          <p:cNvSpPr/>
          <p:nvPr/>
        </p:nvSpPr>
        <p:spPr>
          <a:xfrm>
            <a:off x="2148840" y="268833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54203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dcc-mcp-gateway（Rust）：路由 · 能力索引 · Job · Artifact · 策略</a:t>
            </a:r>
          </a:p>
        </p:txBody>
      </p:sp>
      <p:sp>
        <p:nvSpPr>
          <p:cNvPr id="9" name="Oval 8"/>
          <p:cNvSpPr/>
          <p:nvPr/>
        </p:nvSpPr>
        <p:spPr>
          <a:xfrm>
            <a:off x="2148840" y="355701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41071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Sidecar（RFC #998）：进程生命周期 · PPID 守护 · HostRpcClient</a:t>
            </a:r>
          </a:p>
        </p:txBody>
      </p:sp>
      <p:sp>
        <p:nvSpPr>
          <p:cNvPr id="11" name="Oval 10"/>
          <p:cNvSpPr/>
          <p:nvPr/>
        </p:nvSpPr>
        <p:spPr>
          <a:xfrm>
            <a:off x="2148840" y="442569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427939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各 DCC 适配器：Maya commandPort · Blender HTTP · Houdini hrpyc · …</a:t>
            </a:r>
          </a:p>
        </p:txBody>
      </p:sp>
      <p:sp>
        <p:nvSpPr>
          <p:cNvPr id="13" name="Oval 12"/>
          <p:cNvSpPr/>
          <p:nvPr/>
        </p:nvSpPr>
        <p:spPr>
          <a:xfrm>
            <a:off x="2148840" y="529437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514807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DCC 应用：Maya / Blender / Houdini / Photoshop / Unity / Office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40864" y="2194560"/>
            <a:ext cx="0" cy="3474719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能力与 Skills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783080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627632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任务级 Capability，不暴露原始对象模型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96312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715768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560320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渐进式发现：初始上下文不塞满数百个工具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29000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648456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493008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契约化技能包：SKILL.md + tools.yaml + scripts/&lt;name&gt;.py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61688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4581144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25696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Maya 单仓 25+ 域技能包、198 个结构化操作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生态现状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2763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30+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DCC 适配器仓库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162763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2763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198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Maya 结构化操作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62763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79" y="162763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25+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Maya 域技能包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39" y="162763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54787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5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Office 新域仓库（office / PPT / Word / Excel / Outlook）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54787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354787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6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执行后端路径（OpenXML / COM / Graph / Office.js / UIA / CUA）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54787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55279" y="3547872"/>
            <a:ext cx="3291840" cy="1691640"/>
          </a:xfrm>
          <a:prstGeom prst="roundRect">
            <a:avLst>
              <a:gd name="adj" fmla="val 7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12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Microsoft YaHei"/>
              </a:rPr>
              <a:t>Office MVP 验收标准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39" y="3547872"/>
            <a:ext cx="502920" cy="5080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20040"/>
            <a:ext cx="2468880" cy="246888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执行模型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一次调用的旅程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0515600" cy="381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19071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</a:rPr>
              <a:t>list / search — 渐进式能力发现</a:t>
            </a:r>
          </a:p>
        </p:txBody>
      </p:sp>
      <p:sp>
        <p:nvSpPr>
          <p:cNvPr id="8" name="Oval 7"/>
          <p:cNvSpPr/>
          <p:nvPr/>
        </p:nvSpPr>
        <p:spPr>
          <a:xfrm>
            <a:off x="3822191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356616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</a:rPr>
              <a:t>load_skill / describe — 契约与确认级别</a:t>
            </a:r>
          </a:p>
        </p:txBody>
      </p:sp>
      <p:sp>
        <p:nvSpPr>
          <p:cNvPr id="10" name="Oval 9"/>
          <p:cNvSpPr/>
          <p:nvPr/>
        </p:nvSpPr>
        <p:spPr>
          <a:xfrm>
            <a:off x="5925312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1" y="210312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</a:rPr>
              <a:t>call — 任务级 Capability</a:t>
            </a:r>
          </a:p>
        </p:txBody>
      </p:sp>
      <p:sp>
        <p:nvSpPr>
          <p:cNvPr id="12" name="Oval 11"/>
          <p:cNvSpPr/>
          <p:nvPr/>
        </p:nvSpPr>
        <p:spPr>
          <a:xfrm>
            <a:off x="8028431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56616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</a:rPr>
              <a:t>Job — 批处理永不占住连接</a:t>
            </a:r>
          </a:p>
        </p:txBody>
      </p:sp>
      <p:sp>
        <p:nvSpPr>
          <p:cNvPr id="14" name="Oval 13"/>
          <p:cNvSpPr/>
          <p:nvPr/>
        </p:nvSpPr>
        <p:spPr>
          <a:xfrm>
            <a:off x="10131552" y="3090672"/>
            <a:ext cx="310896" cy="310896"/>
          </a:xfrm>
          <a:prstGeom prst="ellipse">
            <a:avLst/>
          </a:prstGeom>
          <a:solidFill>
            <a:srgbClr val="0F141E"/>
          </a:solidFill>
          <a:ln w="19050">
            <a:solidFill>
              <a:srgbClr val="7FC8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7FC8A9"/>
                </a:solidFill>
                <a:latin typeface="Segoe UI"/>
                <a:ea typeface="Microsoft YaHe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1" y="2103120"/>
            <a:ext cx="1828799" cy="9601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350" b="0">
                <a:solidFill>
                  <a:srgbClr val="E8ECF2"/>
                </a:solidFill>
                <a:latin typeface="Segoe UI"/>
                <a:ea typeface="Microsoft YaHei"/>
              </a:rPr>
              <a:t>Artifact — 结果、预览、审计可追踪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20040"/>
            <a:ext cx="2468880" cy="246888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4572000" cy="38404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0" b="1">
                <a:solidFill>
                  <a:srgbClr val="223047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Microsoft YaHei"/>
              </a:rPr>
              <a:t>Office 自动化平台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Office 双后端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48840" y="181965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67335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Rust Gateway（dcc-mcp-core）：控制面 · Job · Artifact · 安全策略</a:t>
            </a:r>
          </a:p>
        </p:txBody>
      </p:sp>
      <p:sp>
        <p:nvSpPr>
          <p:cNvPr id="7" name="Oval 6"/>
          <p:cNvSpPr/>
          <p:nvPr/>
        </p:nvSpPr>
        <p:spPr>
          <a:xfrm>
            <a:off x="2148840" y="268833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54203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office-host.exe（C#）：每应用独立 Sidecar · 单 STA 队列</a:t>
            </a:r>
          </a:p>
        </p:txBody>
      </p:sp>
      <p:sp>
        <p:nvSpPr>
          <p:cNvPr id="9" name="Oval 8"/>
          <p:cNvSpPr/>
          <p:nvPr/>
        </p:nvSpPr>
        <p:spPr>
          <a:xfrm>
            <a:off x="2148840" y="355701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41071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POWERPNT / WINWORD / EXCEL（COM 数据面）</a:t>
            </a:r>
          </a:p>
        </p:txBody>
      </p:sp>
      <p:sp>
        <p:nvSpPr>
          <p:cNvPr id="11" name="Oval 10"/>
          <p:cNvSpPr/>
          <p:nvPr/>
        </p:nvSpPr>
        <p:spPr>
          <a:xfrm>
            <a:off x="2148840" y="442569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427939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Open XML Worker：批量结构处理（编译器，非渲染器）</a:t>
            </a:r>
          </a:p>
        </p:txBody>
      </p:sp>
      <p:sp>
        <p:nvSpPr>
          <p:cNvPr id="13" name="Oval 12"/>
          <p:cNvSpPr/>
          <p:nvPr/>
        </p:nvSpPr>
        <p:spPr>
          <a:xfrm>
            <a:off x="2148840" y="5294376"/>
            <a:ext cx="384048" cy="384048"/>
          </a:xfrm>
          <a:prstGeom prst="ellipse">
            <a:avLst/>
          </a:prstGeom>
          <a:solidFill>
            <a:srgbClr val="171F2E"/>
          </a:solidFill>
          <a:ln w="15240">
            <a:solidFill>
              <a:srgbClr val="4D9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200" b="1">
                <a:solidFill>
                  <a:srgbClr val="4D9DE0"/>
                </a:solidFill>
                <a:latin typeface="Segoe UI"/>
                <a:ea typeface="Microsoft YaHe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5148072"/>
            <a:ext cx="8412480" cy="713232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Microsoft Graph / Office.js / UIA-CUA：云与兜底路径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40864" y="2194560"/>
            <a:ext cx="0" cy="3474719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27632"/>
            <a:ext cx="5120640" cy="566928"/>
          </a:xfrm>
          <a:prstGeom prst="roundRect">
            <a:avLst>
              <a:gd name="adj" fmla="val 16000"/>
            </a:avLst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600" b="1">
                <a:solidFill>
                  <a:srgbClr val="E8ECF2"/>
                </a:solidFill>
                <a:latin typeface="Segoe UI"/>
                <a:ea typeface="Microsoft YaHei"/>
              </a:rPr>
              <a:t>结构化 API 优先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04288"/>
            <a:ext cx="5120640" cy="3749039"/>
          </a:xfrm>
          <a:prstGeom prst="roundRect">
            <a:avLst>
              <a:gd name="adj" fmla="val 5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✓  确定性、可验证、可审计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✓  UIA/CUA 只做最后兜底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✓  写操作不得静默降级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27632"/>
            <a:ext cx="5120640" cy="566928"/>
          </a:xfrm>
          <a:prstGeom prst="roundRect">
            <a:avLst>
              <a:gd name="adj" fmla="val 16000"/>
            </a:avLst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600" b="1">
                <a:solidFill>
                  <a:srgbClr val="E8ECF2"/>
                </a:solidFill>
                <a:latin typeface="Segoe UI"/>
                <a:ea typeface="Microsoft YaHei"/>
              </a:rPr>
              <a:t>任务级能力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304288"/>
            <a:ext cx="5120640" cy="3749039"/>
          </a:xfrm>
          <a:prstGeom prst="roundRect">
            <a:avLst>
              <a:gd name="adj" fmla="val 5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✓  不暴露原始 COM 成员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✓  模板优先于自由坐标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✓  检查点 + 预览 + 可追踪结果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320040"/>
            <a:ext cx="2651760" cy="265176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cc-mcp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965960"/>
            <a:ext cx="16459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3063240"/>
            <a:ext cx="941832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4600" b="1">
                <a:solidFill>
                  <a:srgbClr val="E8ECF2"/>
                </a:solidFill>
                <a:latin typeface="Segoe UI"/>
                <a:ea typeface="Microsoft YaHei"/>
              </a:rPr>
              <a:t>Thanks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43400"/>
            <a:ext cx="9418320" cy="6400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600" b="0">
                <a:solidFill>
                  <a:srgbClr val="9AA7BC"/>
                </a:solidFill>
                <a:latin typeface="Segoe UI"/>
                <a:ea typeface="Microsoft YaHei"/>
              </a:rPr>
              <a:t>dcc-mcp · 让 AI 进入每一个创作工具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框架介绍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