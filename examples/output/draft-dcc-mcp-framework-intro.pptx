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开场：DCC-MCP 是一个面向数字内容创作工具的统一 MCP 网关生态。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第一部分：框架是什么、架构长什么样、生态现状。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四个要点：统一网关、薄适配器、渐进式发现、技能包机制。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自上而下五层：客户端、Rust 网关、Sidecar 生命周期层、适配器 RPC 层、DCC 应用层。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能力设计哲学：任务级、契约化、渐进式。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数字来自仓库清单与各适配器 AGENTS.md，均为可核实的保守口径。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每个 logo 对应一个已发布适配器仓库；卡片图由官方品牌资产归一化生成。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四张图来自官网 showcase 页的公开案例，均可从 dcc-mcp.github.io/showcase 访问。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Deck 即由这条管线生成：IR → C# 宿主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质量门禁与零依赖分发是项目的两条硬约束。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第二部分：一次调用如何走完发现、执行、批处理与产物闭环。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五步：发现 → 加载 → 调用 → 作业 → 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第三部分：Office 域如何复用同一套控制面，形成双后端执行模型。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即由该流程生成：Deck IR → Open XML 编译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两条主线：执行路径有明确优先级，能力面保持任务级抽象。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收尾：欢迎共建适配器与技能包。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81160" y="4434840"/>
            <a:ext cx="2788920" cy="228600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CC-MCP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85800"/>
            <a:ext cx="1234440" cy="54864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1371600" y="2651760"/>
            <a:ext cx="941832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54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DCC-MCP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7568" y="3977639"/>
            <a:ext cx="82296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51960"/>
            <a:ext cx="9418320" cy="9144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多 DCC 统一智能体网关框架</a:t>
            </a:r>
          </a:p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让 AI 进入每一个创作工具 · Maya / Blender / Houdini / Photoshop / Unity / Office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6263640"/>
            <a:ext cx="9418320" cy="320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 · draft:dcc-mcp-framework-intro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20040"/>
            <a:ext cx="2468880" cy="246888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  <a:cs typeface="Segoe UI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框架总览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什么是 DCC-MCP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783080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627632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面向数字内容创作（DCC）工具的统一 MCP 网关生态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96312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715768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560320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一个 DCC 一个适配器仓库：Maya、Blender、Houdini、Photoshop、Unity、Office…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29000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648456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493008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统一的能力发现机制：list → search → load_skill →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61688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4581144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25696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Skills 机制：把稳定流程固化为可复用的技能包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48840" y="181965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67335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Agent / MCP Client / IDE / CI</a:t>
            </a:r>
          </a:p>
        </p:txBody>
      </p:sp>
      <p:sp>
        <p:nvSpPr>
          <p:cNvPr id="7" name="Oval 6"/>
          <p:cNvSpPr/>
          <p:nvPr/>
        </p:nvSpPr>
        <p:spPr>
          <a:xfrm>
            <a:off x="2148840" y="268833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54203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dcc-mcp-gateway（Rust）：路由 · 能力索引 · Job · Artifact · 策略</a:t>
            </a:r>
          </a:p>
        </p:txBody>
      </p:sp>
      <p:sp>
        <p:nvSpPr>
          <p:cNvPr id="9" name="Oval 8"/>
          <p:cNvSpPr/>
          <p:nvPr/>
        </p:nvSpPr>
        <p:spPr>
          <a:xfrm>
            <a:off x="2148840" y="355701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41071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Sidecar（RFC #998）：进程生命周期 · PPID 守护 · HostRpcClient</a:t>
            </a:r>
          </a:p>
        </p:txBody>
      </p:sp>
      <p:sp>
        <p:nvSpPr>
          <p:cNvPr id="11" name="Oval 10"/>
          <p:cNvSpPr/>
          <p:nvPr/>
        </p:nvSpPr>
        <p:spPr>
          <a:xfrm>
            <a:off x="2148840" y="442569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27939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各 DCC 适配器：Maya commandPort · Blender HTTP · Houdini hrpyc · …</a:t>
            </a:r>
          </a:p>
        </p:txBody>
      </p:sp>
      <p:sp>
        <p:nvSpPr>
          <p:cNvPr id="13" name="Oval 12"/>
          <p:cNvSpPr/>
          <p:nvPr/>
        </p:nvSpPr>
        <p:spPr>
          <a:xfrm>
            <a:off x="2148840" y="529437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514807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DCC 应用：Maya / Blender / Houdini / Photoshop / Unity / Office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40864" y="2194560"/>
            <a:ext cx="0" cy="3474719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能力与 Skills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783080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627632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任务级 Capability，不暴露原始对象模型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96312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715768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560320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渐进式发现：初始上下文不塞满数百个工具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29000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648456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493008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契约化技能包：SKILL.md + tools.yaml + scripts/&lt;name&gt;.py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61688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4581144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25696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Maya 单仓 25+ 域技能包、198 个结构化操作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生态现状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2763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30+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DCC 适配器仓库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162763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2763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198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Maya 结构化操作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62763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62763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25+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Maya 域技能包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39" y="162763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54787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5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Office 新域仓库（office / PPT / Word / Excel / Outlook）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54787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354787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6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执行后端路径（OpenXML / COM / Graph / Office.js / UIA / CUA）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54787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5279" y="354787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12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Office MVP 验收标准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39" y="354787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覆盖的 DCC 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2763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ay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82496"/>
            <a:ext cx="1097279" cy="1097279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822960" y="277977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Maya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9010" y="162763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Blen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50" y="1682496"/>
            <a:ext cx="1097279" cy="1097279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3509010" y="277977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Blender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62763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Houdin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682496"/>
            <a:ext cx="1097279" cy="1097279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6195060" y="277977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Houdini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1110" y="162763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Photosho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550" y="1682496"/>
            <a:ext cx="1097279" cy="1097279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8881110" y="277977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Photoshop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31927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n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374136"/>
            <a:ext cx="1097279" cy="1097279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822960" y="447141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Unity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09010" y="331927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nrea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0450" y="3374136"/>
            <a:ext cx="1097279" cy="1097279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3509010" y="447141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Unreal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5060" y="331927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Nu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3374136"/>
            <a:ext cx="1097279" cy="1097279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6195060" y="447141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Nuke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1110" y="331927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3ds Max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2550" y="3374136"/>
            <a:ext cx="1097279" cy="1097279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8881110" y="4471416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3ds Max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1091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Cinema 4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5065775"/>
            <a:ext cx="1097279" cy="1097279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822960" y="6163055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Cinema 4D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501091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Katana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00450" y="5065775"/>
            <a:ext cx="1097279" cy="1097279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3509010" y="6163055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Katana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5060" y="501091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Marmose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5065775"/>
            <a:ext cx="1097279" cy="1097279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6195060" y="6163055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Marmoset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81110" y="5010912"/>
            <a:ext cx="2457450" cy="1463039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Substanc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72550" y="5065775"/>
            <a:ext cx="1097279" cy="1097279"/>
          </a:xfrm>
          <a:prstGeom prst="rect">
            <a:avLst/>
          </a:prstGeom>
          <a:effectLst/>
        </p:spPr>
      </p:pic>
      <p:sp>
        <p:nvSpPr>
          <p:cNvPr id="40" name="TextBox 39"/>
          <p:cNvSpPr txBox="1"/>
          <p:nvPr/>
        </p:nvSpPr>
        <p:spPr>
          <a:xfrm>
            <a:off x="8881110" y="6163055"/>
            <a:ext cx="245745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Substance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真实案例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27632"/>
            <a:ext cx="5143500" cy="1572768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lender 螺旋星系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82496"/>
            <a:ext cx="2145790" cy="1207007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822960" y="2889504"/>
            <a:ext cx="51435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Blender 螺旋星系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627632"/>
            <a:ext cx="5143500" cy="1572768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Marmoset PBR 材质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82496"/>
            <a:ext cx="2145790" cy="1207007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6195060" y="2889504"/>
            <a:ext cx="51435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Marmoset PBR 材质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29000"/>
            <a:ext cx="5143500" cy="1572768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Hunyuan 3D 生成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83864"/>
            <a:ext cx="2145790" cy="1207007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822960" y="4690872"/>
            <a:ext cx="51435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Hunyuan 3D 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429000"/>
            <a:ext cx="5143500" cy="1572768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ZBrush 重拓扑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3483864"/>
            <a:ext cx="2145790" cy="1207007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6195060" y="4690872"/>
            <a:ext cx="51435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ZBrush 重拓扑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本项目：dcc-mcp-PowerPoint 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48840" y="181965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67335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Deck IR 契约（office-ir/1.0，镜像 dcc-mcp-office-ir）</a:t>
            </a:r>
          </a:p>
        </p:txBody>
      </p:sp>
      <p:sp>
        <p:nvSpPr>
          <p:cNvPr id="7" name="Oval 6"/>
          <p:cNvSpPr/>
          <p:nvPr/>
        </p:nvSpPr>
        <p:spPr>
          <a:xfrm>
            <a:off x="2148840" y="268833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54203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dcc-office-host（C#，零 NuGet）：Open XML 编译 · 路径寻址检查</a:t>
            </a:r>
          </a:p>
        </p:txBody>
      </p:sp>
      <p:sp>
        <p:nvSpPr>
          <p:cNvPr id="9" name="Oval 8"/>
          <p:cNvSpPr/>
          <p:nvPr/>
        </p:nvSpPr>
        <p:spPr>
          <a:xfrm>
            <a:off x="2148840" y="355701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41071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桌面 COM 渲染：PDF + 逐页 PNG（DispatchEx 专用实例）</a:t>
            </a:r>
          </a:p>
        </p:txBody>
      </p:sp>
      <p:sp>
        <p:nvSpPr>
          <p:cNvPr id="11" name="Oval 10"/>
          <p:cNvSpPr/>
          <p:nvPr/>
        </p:nvSpPr>
        <p:spPr>
          <a:xfrm>
            <a:off x="2148840" y="442569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27939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自研 issues 分析器：真实字体度量溢出 + WCAG 对比度</a:t>
            </a:r>
          </a:p>
        </p:txBody>
      </p:sp>
      <p:sp>
        <p:nvSpPr>
          <p:cNvPr id="13" name="Oval 12"/>
          <p:cNvSpPr/>
          <p:nvPr/>
        </p:nvSpPr>
        <p:spPr>
          <a:xfrm>
            <a:off x="2148840" y="529437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514807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像素级视觉 QA：覆盖率 + 边缘出血（背景自适应）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40864" y="2194560"/>
            <a:ext cx="0" cy="3474719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质量与分发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783080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627632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官方 dcc-mcp-cli lint：4 个技能包 0 错误 0 警告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96312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715768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560320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pytest 35 用例 · ruff 0 错误 · CI 全绿后 squash 合并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29000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648456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493008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运行时零第三方依赖：Python 只用 stdlib，重型接口走 C# 宿主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61688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4581144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25696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PyOxidizer 独立可执行文件分发（photoshop 同款模式）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20040"/>
            <a:ext cx="2468880" cy="246888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  <a:cs typeface="Segoe U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执行模型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一次调用的旅程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0515600" cy="381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19071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list / search — 渐进式能力发现</a:t>
            </a:r>
          </a:p>
        </p:txBody>
      </p:sp>
      <p:sp>
        <p:nvSpPr>
          <p:cNvPr id="8" name="Oval 7"/>
          <p:cNvSpPr/>
          <p:nvPr/>
        </p:nvSpPr>
        <p:spPr>
          <a:xfrm>
            <a:off x="3822191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356616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load_skill / describe — 契约与确认级别</a:t>
            </a:r>
          </a:p>
        </p:txBody>
      </p:sp>
      <p:sp>
        <p:nvSpPr>
          <p:cNvPr id="10" name="Oval 9"/>
          <p:cNvSpPr/>
          <p:nvPr/>
        </p:nvSpPr>
        <p:spPr>
          <a:xfrm>
            <a:off x="5925312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1" y="210312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call — 任务级 Capability</a:t>
            </a:r>
          </a:p>
        </p:txBody>
      </p:sp>
      <p:sp>
        <p:nvSpPr>
          <p:cNvPr id="12" name="Oval 11"/>
          <p:cNvSpPr/>
          <p:nvPr/>
        </p:nvSpPr>
        <p:spPr>
          <a:xfrm>
            <a:off x="8028431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56616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Job — 批处理永不占住连接</a:t>
            </a:r>
          </a:p>
        </p:txBody>
      </p:sp>
      <p:sp>
        <p:nvSpPr>
          <p:cNvPr id="14" name="Oval 13"/>
          <p:cNvSpPr/>
          <p:nvPr/>
        </p:nvSpPr>
        <p:spPr>
          <a:xfrm>
            <a:off x="10131552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  <a:cs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1" y="210312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Artifact — 结果、预览、审计可追踪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20040"/>
            <a:ext cx="2468880" cy="246888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  <a:cs typeface="Segoe UI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Office 自动化平台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Office 双后端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48840" y="181965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67335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Rust Gateway（dcc-mcp-core）：控制面 · Job · Artifact · 安全策略</a:t>
            </a:r>
          </a:p>
        </p:txBody>
      </p:sp>
      <p:sp>
        <p:nvSpPr>
          <p:cNvPr id="7" name="Oval 6"/>
          <p:cNvSpPr/>
          <p:nvPr/>
        </p:nvSpPr>
        <p:spPr>
          <a:xfrm>
            <a:off x="2148840" y="268833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54203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office-host.exe（C#）：每应用独立 Sidecar · 单 STA 队列</a:t>
            </a:r>
          </a:p>
        </p:txBody>
      </p:sp>
      <p:sp>
        <p:nvSpPr>
          <p:cNvPr id="9" name="Oval 8"/>
          <p:cNvSpPr/>
          <p:nvPr/>
        </p:nvSpPr>
        <p:spPr>
          <a:xfrm>
            <a:off x="2148840" y="355701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41071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POWERPNT / WINWORD / EXCEL（COM 数据面）</a:t>
            </a:r>
          </a:p>
        </p:txBody>
      </p:sp>
      <p:sp>
        <p:nvSpPr>
          <p:cNvPr id="11" name="Oval 10"/>
          <p:cNvSpPr/>
          <p:nvPr/>
        </p:nvSpPr>
        <p:spPr>
          <a:xfrm>
            <a:off x="2148840" y="442569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27939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Open XML Worker：批量结构处理（编译器，非渲染器）</a:t>
            </a:r>
          </a:p>
        </p:txBody>
      </p:sp>
      <p:sp>
        <p:nvSpPr>
          <p:cNvPr id="13" name="Oval 12"/>
          <p:cNvSpPr/>
          <p:nvPr/>
        </p:nvSpPr>
        <p:spPr>
          <a:xfrm>
            <a:off x="2148840" y="529437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  <a:cs typeface="Segoe U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514807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Microsoft Graph / Office.js / UIA-CUA：云与兜底路径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40864" y="2194560"/>
            <a:ext cx="0" cy="3474719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27632"/>
            <a:ext cx="5120640" cy="566928"/>
          </a:xfrm>
          <a:prstGeom prst="roundRect">
            <a:avLst>
              <a:gd name="adj" fmla="val 16000"/>
            </a:avLst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6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结构化 API 优先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04288"/>
            <a:ext cx="5120640" cy="3749039"/>
          </a:xfrm>
          <a:prstGeom prst="roundRect">
            <a:avLst>
              <a:gd name="adj" fmla="val 5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✓  确定性、可验证、可审计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✓  UIA/CUA 只做最后兜底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✓  写操作不得静默降级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27632"/>
            <a:ext cx="5120640" cy="566928"/>
          </a:xfrm>
          <a:prstGeom prst="roundRect">
            <a:avLst>
              <a:gd name="adj" fmla="val 16000"/>
            </a:avLst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6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任务级能力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304288"/>
            <a:ext cx="5120640" cy="3749039"/>
          </a:xfrm>
          <a:prstGeom prst="roundRect">
            <a:avLst>
              <a:gd name="adj" fmla="val 5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✓  不暴露原始 COM 成员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✓  模板优先于自由坐标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✓  检查点 + 预览 + 可追踪结果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320040"/>
            <a:ext cx="2651760" cy="265176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CC-MCP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965960"/>
            <a:ext cx="1645920" cy="73152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1371600" y="3063240"/>
            <a:ext cx="941832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600" b="1">
                <a:solidFill>
                  <a:srgbClr val="E8ECF2"/>
                </a:solidFill>
                <a:latin typeface="Segoe UI"/>
                <a:ea typeface="Microsoft YaHei"/>
                <a:cs typeface="Segoe UI"/>
              </a:rPr>
              <a:t>Thanks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43400"/>
            <a:ext cx="9418320" cy="6400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6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· 让 AI 进入每一个创作工具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  <a:cs typeface="Segoe U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