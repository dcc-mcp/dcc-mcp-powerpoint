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aec7d3cc25b458b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9e8cb767dc3648b7"/>
  </p:sldMasterIdLst>
  <p:sldIdLst>
    <p:sldId id="256" r:id="R7e1cce0db3bd462d"/>
    <p:sldId id="257" r:id="R668b675559db46db"/>
    <p:sldId id="258" r:id="Rf2e468a522464508"/>
    <p:sldId id="259" r:id="R970b5b7fe3a143a1"/>
    <p:sldId id="260" r:id="R70cd5ecb8d99426d"/>
    <p:sldId id="261" r:id="R5242a71449a14a6e"/>
    <p:sldId id="262" r:id="Rc94570ff7dea446a"/>
    <p:sldId id="263" r:id="Rcc5eadae3bf64962"/>
    <p:sldId id="264" r:id="Rfca979825f404e2b"/>
    <p:sldId id="265" r:id="Rc6e7d85279ea45cb"/>
    <p:sldId id="266" r:id="Rd5503c2fc5954a47"/>
    <p:sldId id="267" r:id="R0cd548fda0c84c3a"/>
    <p:sldId id="268" r:id="R02a30c180d254893"/>
    <p:sldId id="269" r:id="Ra1a8ed189bb645cd"/>
    <p:sldId id="270" r:id="Rebbb41a1b3464b7d"/>
    <p:sldId id="271" r:id="Racd795ab1d9f45f5"/>
    <p:sldId id="272" r:id="Rcb3744d2ed2e4587"/>
  </p:sldIdLst>
  <p:sldSz cx="12191695" cy="6858000" type="screen16x9"/>
  <p:notesSz cx="7772400" cy="10058400"/>
  <p:defaultTextStyle>
    <a:lvl1pPr>
      <a:defRPr sz="1800"/>
    </a:lvl1pPr>
    <a:lvl2pPr>
      <a:defRPr sz="1800"/>
    </a:lvl2pPr>
    <a:lvl3pPr>
      <a:defRPr sz="1800"/>
    </a:lvl3pPr>
    <a:lvl4pPr>
      <a:defRPr sz="1800"/>
    </a:lvl4pPr>
    <a:lvl5pPr>
      <a:defRPr sz="1800"/>
    </a:lvl5pPr>
    <a:lvl6pPr>
      <a:defRPr sz="1800"/>
    </a:lvl6pPr>
    <a:lvl7pPr>
      <a:defRPr sz="1800"/>
    </a:lvl7pPr>
    <a:lvl8pPr>
      <a:defRPr sz="1800"/>
    </a:lvl8pPr>
    <a:lvl9pPr>
      <a:defRPr sz="1800"/>
    </a:lvl9pPr>
  </p:defaultTextStyle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slideMasters/slideMaster1.xml" Id="R9e8cb767dc3648b7" /><Relationship Type="http://schemas.openxmlformats.org/officeDocument/2006/relationships/slide" Target="slides/slide1.xml" Id="R7e1cce0db3bd462d" /><Relationship Type="http://schemas.openxmlformats.org/officeDocument/2006/relationships/slide" Target="slides/slide2.xml" Id="R668b675559db46db" /><Relationship Type="http://schemas.openxmlformats.org/officeDocument/2006/relationships/slide" Target="slides/slide3.xml" Id="Rf2e468a522464508" /><Relationship Type="http://schemas.openxmlformats.org/officeDocument/2006/relationships/slide" Target="slides/slide4.xml" Id="R970b5b7fe3a143a1" /><Relationship Type="http://schemas.openxmlformats.org/officeDocument/2006/relationships/slide" Target="slides/slide5.xml" Id="R70cd5ecb8d99426d" /><Relationship Type="http://schemas.openxmlformats.org/officeDocument/2006/relationships/slide" Target="slides/slide6.xml" Id="R5242a71449a14a6e" /><Relationship Type="http://schemas.openxmlformats.org/officeDocument/2006/relationships/slide" Target="slides/slide7.xml" Id="Rc94570ff7dea446a" /><Relationship Type="http://schemas.openxmlformats.org/officeDocument/2006/relationships/slide" Target="slides/slide8.xml" Id="Rcc5eadae3bf64962" /><Relationship Type="http://schemas.openxmlformats.org/officeDocument/2006/relationships/slide" Target="slides/slide9.xml" Id="Rfca979825f404e2b" /><Relationship Type="http://schemas.openxmlformats.org/officeDocument/2006/relationships/slide" Target="slides/slide10.xml" Id="Rc6e7d85279ea45cb" /><Relationship Type="http://schemas.openxmlformats.org/officeDocument/2006/relationships/slide" Target="slides/slide11.xml" Id="Rd5503c2fc5954a47" /><Relationship Type="http://schemas.openxmlformats.org/officeDocument/2006/relationships/slide" Target="slides/slide12.xml" Id="R0cd548fda0c84c3a" /><Relationship Type="http://schemas.openxmlformats.org/officeDocument/2006/relationships/slide" Target="slides/slide13.xml" Id="R02a30c180d254893" /><Relationship Type="http://schemas.openxmlformats.org/officeDocument/2006/relationships/slide" Target="slides/slide14.xml" Id="Ra1a8ed189bb645cd" /><Relationship Type="http://schemas.openxmlformats.org/officeDocument/2006/relationships/slide" Target="slides/slide15.xml" Id="Rebbb41a1b3464b7d" /><Relationship Type="http://schemas.openxmlformats.org/officeDocument/2006/relationships/slide" Target="slides/slide16.xml" Id="Racd795ab1d9f45f5" /><Relationship Type="http://schemas.openxmlformats.org/officeDocument/2006/relationships/slide" Target="slides/slide17.xml" Id="Rcb3744d2ed2e45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../theme/theme1.xml" Id="Rf8edaf8911a548b5" 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6b685aadd15947f0" /><Relationship Type="http://schemas.openxmlformats.org/officeDocument/2006/relationships/slide" Target="../slides/slide1.xml" Id="Re9c81b1a992347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ac6e443efea642c6" /><Relationship Type="http://schemas.openxmlformats.org/officeDocument/2006/relationships/slide" Target="../slides/slide2.xml" Id="R1ce0193cc7b643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43a87eb2610140ec" /><Relationship Type="http://schemas.openxmlformats.org/officeDocument/2006/relationships/slide" Target="../slides/slide3.xml" Id="R4bea9a13d7874e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e0817a903032434c" /><Relationship Type="http://schemas.openxmlformats.org/officeDocument/2006/relationships/slide" Target="../slides/slide4.xml" Id="R83bbd8cfd75049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eca257a59bbf42ef" /><Relationship Type="http://schemas.openxmlformats.org/officeDocument/2006/relationships/slide" Target="../slides/slide5.xml" Id="Rf59ccc7613234c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2f15eff7910f48c0" /><Relationship Type="http://schemas.openxmlformats.org/officeDocument/2006/relationships/slide" Target="../slides/slide6.xml" Id="R208f7c902a4d43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2f9b53418afe4d98" /><Relationship Type="http://schemas.openxmlformats.org/officeDocument/2006/relationships/slide" Target="../slides/slide7.xml" Id="Rac9dc1d0473e4b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2919d6b850184d5a" /><Relationship Type="http://schemas.openxmlformats.org/officeDocument/2006/relationships/slide" Target="../slides/slide8.xml" Id="R9c2390d5024b49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345bdf8c82c046b3" /><Relationship Type="http://schemas.openxmlformats.org/officeDocument/2006/relationships/slide" Target="../slides/slide9.xml" Id="R0007d45cbdb44f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e8655d8bf3ee41b4" /><Relationship Type="http://schemas.openxmlformats.org/officeDocument/2006/relationships/slide" Target="../slides/slide10.xml" Id="R20ca97b3673445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ce945575021a494e" /><Relationship Type="http://schemas.openxmlformats.org/officeDocument/2006/relationships/slide" Target="../slides/slide11.xml" Id="R1ac8a5c1512f402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59c3472ccc964177" /><Relationship Type="http://schemas.openxmlformats.org/officeDocument/2006/relationships/slide" Target="../slides/slide12.xml" Id="Rfea28172e51f444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c4e917e42f6f422f" /><Relationship Type="http://schemas.openxmlformats.org/officeDocument/2006/relationships/slide" Target="../slides/slide13.xml" Id="Rf56f36aede78475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dbe92113e064433b" /><Relationship Type="http://schemas.openxmlformats.org/officeDocument/2006/relationships/slide" Target="../slides/slide14.xml" Id="R5e562b21af7d407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fc06c7bb65564364" /><Relationship Type="http://schemas.openxmlformats.org/officeDocument/2006/relationships/slide" Target="../slides/slide15.xml" Id="R5d71aab0610c468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c4191f6fe62e40a6" /><Relationship Type="http://schemas.openxmlformats.org/officeDocument/2006/relationships/slide" Target="../slides/slide16.xml" Id="Rbb4f26bbbe31464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5fb19e015b1f4dc7" /><Relationship Type="http://schemas.openxmlformats.org/officeDocument/2006/relationships/slide" Target="../slides/slide17.xml" Id="R5144b47511fd4296" 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开场：本 Deck 自己演示自己的能力边界——从 Deck IR 生成，再用图层、补丁和插件二次加工。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第一部分：生成管线如何把结构化内容变成可编辑的 PPTX。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四步管线，每步都有契约和验证。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五层结构：契约、编译、渲染、验证、生成后能力面。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能力边界用数字说话。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编译与渲染解耦：Open XML 负责结构，COM 负责保真。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左边是工程原则，右边是本仓库与上游的分工。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五步旅程，本 Deck 完整走过。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图左文右布局直接复用管线内真实渲染图。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 个 logo 卡片网格，卡片图统一归一化。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第二部分：语义图层系统——显隐、层级、重着色、归属。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编译器保证六个图层标签，任何生成 Deck 都可按层操作。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图层能力全清单，本分支演示脚本逐项验证。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第三部分：结构化补丁与插件注册表。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种操作，任何失败即整体回滚，输入文件绝不半改。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插件是用户安装的代码，注册表只发现、校验、隔离子进程执行。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收尾：能力边界持续迭代，缺陷上游修复闭环。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../slideMasters/slideMaster1.xml" Id="R30c08c6c1d924906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a0dec416f3804c9e" /><Relationship Type="http://schemas.openxmlformats.org/officeDocument/2006/relationships/theme" Target="../theme/theme1.xml" Id="Re3467c73f02245c9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a0dec416f3804c9e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5a98c5cdbc6f402f" /><Relationship Type="http://schemas.openxmlformats.org/officeDocument/2006/relationships/notesSlide" Target="../notesSlides/notesSlide1.xml" Id="Rb16e4e7261a34de1" /><Relationship Type="http://schemas.openxmlformats.org/officeDocument/2006/relationships/image" Target="/ppt/media/logo-light.png" Id="Reef80efe134447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4d7f8c91eee74eaf" /><Relationship Type="http://schemas.openxmlformats.org/officeDocument/2006/relationships/notesSlide" Target="../notesSlides/notesSlide2.xml" Id="R5cc2cd23228547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3b7d94e4814f4121" /><Relationship Type="http://schemas.openxmlformats.org/officeDocument/2006/relationships/notesSlide" Target="../notesSlides/notesSlide3.xml" Id="R350525e4c8034d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39eeb970d38a4f5e" /><Relationship Type="http://schemas.openxmlformats.org/officeDocument/2006/relationships/notesSlide" Target="../notesSlides/notesSlide4.xml" Id="R2de6e960d18340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a3a34fdfaa5541ad" /><Relationship Type="http://schemas.openxmlformats.org/officeDocument/2006/relationships/notesSlide" Target="../notesSlides/notesSlide5.xml" Id="Rb4ff7657bb7744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e2e6a9701ec24c60" /><Relationship Type="http://schemas.openxmlformats.org/officeDocument/2006/relationships/notesSlide" Target="../notesSlides/notesSlide6.xml" Id="R23b91c172fc74b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61f8ae3f8f9448fc" /><Relationship Type="http://schemas.openxmlformats.org/officeDocument/2006/relationships/notesSlide" Target="../notesSlides/notesSlide7.xml" Id="R702125df958548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c763a8d699a84915" /><Relationship Type="http://schemas.openxmlformats.org/officeDocument/2006/relationships/notesSlide" Target="../notesSlides/notesSlide8.xml" Id="R69b6c6b7007a40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19d1443bef144802" /><Relationship Type="http://schemas.openxmlformats.org/officeDocument/2006/relationships/notesSlide" Target="../notesSlides/notesSlide9.xml" Id="R2335ed7a424042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b393fcee82f241f4" /><Relationship Type="http://schemas.openxmlformats.org/officeDocument/2006/relationships/notesSlide" Target="../notesSlides/notesSlide10.xml" Id="Rf2ddffc90fe044e6" /><Relationship Type="http://schemas.openxmlformats.org/officeDocument/2006/relationships/image" Target="/ppt/media/image1.png" Id="Rdc78140f2b1a4185" /><Relationship Type="http://schemas.openxmlformats.org/officeDocument/2006/relationships/image" Target="/ppt/media/image2.png" Id="R93af3b47aeea4880" /><Relationship Type="http://schemas.openxmlformats.org/officeDocument/2006/relationships/image" Target="/ppt/media/image3.png" Id="Rb859c849d17a4662" /><Relationship Type="http://schemas.openxmlformats.org/officeDocument/2006/relationships/image" Target="/ppt/media/image4.png" Id="Rdff779c5ccae487b" /><Relationship Type="http://schemas.openxmlformats.org/officeDocument/2006/relationships/image" Target="/ppt/media/image5.png" Id="Rce38400f077746df" /><Relationship Type="http://schemas.openxmlformats.org/officeDocument/2006/relationships/image" Target="/ppt/media/image6.png" Id="Rf67d1b4ae9c24f97" /><Relationship Type="http://schemas.openxmlformats.org/officeDocument/2006/relationships/image" Target="/ppt/media/image7.png" Id="R5e1fbac6165c4680" /><Relationship Type="http://schemas.openxmlformats.org/officeDocument/2006/relationships/image" Target="/ppt/media/image8.png" Id="R73d6ae20f8b34e3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8ae534b769c842e0" /><Relationship Type="http://schemas.openxmlformats.org/officeDocument/2006/relationships/notesSlide" Target="../notesSlides/notesSlide11.xml" Id="R9d6f4d7f9a854d7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7a34e0e6a2894bd2" /><Relationship Type="http://schemas.openxmlformats.org/officeDocument/2006/relationships/notesSlide" Target="../notesSlides/notesSlide12.xml" Id="Rf78abb67c53242f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a56a09deba4c46df" /><Relationship Type="http://schemas.openxmlformats.org/officeDocument/2006/relationships/notesSlide" Target="../notesSlides/notesSlide13.xml" Id="R30159eebce3445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0205be93ec164a46" /><Relationship Type="http://schemas.openxmlformats.org/officeDocument/2006/relationships/notesSlide" Target="../notesSlides/notesSlide14.xml" Id="R238fd63cfe954ac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dab9a1fbf4db4c7b" /><Relationship Type="http://schemas.openxmlformats.org/officeDocument/2006/relationships/notesSlide" Target="../notesSlides/notesSlide15.xml" Id="R91ad4c6812e1415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b9ce543c24b24793" /><Relationship Type="http://schemas.openxmlformats.org/officeDocument/2006/relationships/notesSlide" Target="../notesSlides/notesSlide16.xml" Id="R7bc7555a5fe841f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9ce9f38d185e4f58" /><Relationship Type="http://schemas.openxmlformats.org/officeDocument/2006/relationships/notesSlide" Target="../notesSlides/notesSlide17.xml" Id="Ra2d226432fe24276" /><Relationship Type="http://schemas.openxmlformats.org/officeDocument/2006/relationships/image" Target="/ppt/media/logo-light.png" Id="Rc293220e17684fdc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ckground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9" name="GhostCircle 999"/>
          <p:cNvSpPr/>
          <p:nvPr/>
        </p:nvSpPr>
        <p:spPr>
          <a:xfrm>
            <a:off x="9281160" y="4434840"/>
            <a:ext cx="2788920" cy="2286000"/>
          </a:xfrm>
          <a:prstGeom prst="ellipse">
            <a:avLst/>
          </a:prstGeom>
          <a:solidFill>
            <a:srgbClr val="22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4" descr="DCC-MCP logo"/>
          <p:cNvPicPr/>
          <p:nvPr/>
        </p:nvPicPr>
        <p:blipFill>
          <a:blip r:embed="Reef80efe13444749"/>
          <a:stretch>
            <a:fillRect/>
          </a:stretch>
        </p:blipFill>
        <p:spPr>
          <a:xfrm>
            <a:off x="5413248" y="685800"/>
            <a:ext cx="975665" cy="54864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371600" y="2651760"/>
            <a:ext cx="9418320" cy="128016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ctr">
            <a:r>
              <a:rPr lang="zh-CN" sz="54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6" name="Background 6"/>
          <p:cNvSpPr/>
          <p:nvPr/>
        </p:nvSpPr>
        <p:spPr>
          <a:xfrm>
            <a:off x="5687568" y="3977640"/>
            <a:ext cx="822960" cy="50292"/>
          </a:xfrm>
          <a:prstGeom prst="rect">
            <a:avLst/>
          </a:prstGeom>
          <a:solidFill>
            <a:srgbClr val="4D9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1371600" y="4251960"/>
            <a:ext cx="9418320" cy="9144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ctr">
            <a:r>
              <a:rPr lang="zh-CN" sz="180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生成管线 × 语义图层 × 补丁引擎 × 插件注册表</a:t>
            </a:r>
          </a:p>
          <a:p algn="ctr">
            <a:r>
              <a:rPr lang="zh-CN" sz="180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11 种语义布局 · 6 个内置图层 · 12 种补丁操作 · 全链路验证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71600" y="6263640"/>
            <a:ext cx="9418320" cy="32004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ctr">
            <a:r>
              <a:rPr lang="zh-CN" sz="110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 · dcc-mcp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ckground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9" name="GhostCircle 999"/>
          <p:cNvSpPr/>
          <p:nvPr/>
        </p:nvSpPr>
        <p:spPr>
          <a:xfrm>
            <a:off x="9601200" y="320040"/>
            <a:ext cx="2468880" cy="2468880"/>
          </a:xfrm>
          <a:prstGeom prst="ellipse">
            <a:avLst/>
          </a:prstGeom>
          <a:solidFill>
            <a:srgbClr val="22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640080" y="640080"/>
            <a:ext cx="4572000" cy="384048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20000" b="1">
                <a:solidFill>
                  <a:srgbClr val="223047"/>
                </a:solidFill>
                <a:latin typeface="Segoe UI"/>
                <a:ea typeface="Microsoft YaHei"/>
                <a:cs typeface="Segoe UI"/>
              </a:rPr>
              <a:t>01</a:t>
            </a:r>
          </a:p>
        </p:txBody>
      </p:sp>
      <p:sp>
        <p:nvSpPr>
          <p:cNvPr id="5" name="Background 5"/>
          <p:cNvSpPr/>
          <p:nvPr/>
        </p:nvSpPr>
        <p:spPr>
          <a:xfrm>
            <a:off x="822960" y="2788920"/>
            <a:ext cx="164592" cy="1097280"/>
          </a:xfrm>
          <a:prstGeom prst="rect">
            <a:avLst/>
          </a:prstGeom>
          <a:solidFill>
            <a:srgbClr val="7FC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1188720" y="2743200"/>
            <a:ext cx="10058400" cy="128016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44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生成管线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34440" y="4114800"/>
            <a:ext cx="9601200" cy="54864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50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Deck IR → Open XML 编译 → COM 渲染 → 结构验证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6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生成管线四步</a:t>
            </a:r>
          </a:p>
        </p:txBody>
      </p:sp>
      <p:sp>
        <p:nvSpPr>
          <p:cNvPr id="7" name="Background 7"/>
          <p:cNvSpPr/>
          <p:nvPr/>
        </p:nvSpPr>
        <p:spPr>
          <a:xfrm>
            <a:off x="822960" y="1298448"/>
            <a:ext cx="822960" cy="45720"/>
          </a:xfrm>
          <a:prstGeom prst="rect">
            <a:avLst/>
          </a:prstGeom>
          <a:solidFill>
            <a:srgbClr val="4D9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Oval 100"/>
          <p:cNvSpPr/>
          <p:nvPr/>
        </p:nvSpPr>
        <p:spPr>
          <a:xfrm>
            <a:off x="868680" y="1783080"/>
            <a:ext cx="164592" cy="164592"/>
          </a:xfrm>
          <a:prstGeom prst="ellipse">
            <a:avLst/>
          </a:prstGeom>
          <a:solidFill>
            <a:srgbClr val="7FC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1"/>
          <p:cNvSpPr txBox="1"/>
          <p:nvPr/>
        </p:nvSpPr>
        <p:spPr>
          <a:xfrm>
            <a:off x="1234440" y="1627632"/>
            <a:ext cx="9966960" cy="82296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Deck IR 契约（office-ir/1.0）：语义布局 + 内容块，绝不手写坐标</a:t>
            </a:r>
          </a:p>
        </p:txBody>
      </p:sp>
      <p:sp>
        <p:nvSpPr>
          <p:cNvPr id="102" name="Background 102"/>
          <p:cNvSpPr/>
          <p:nvPr/>
        </p:nvSpPr>
        <p:spPr>
          <a:xfrm>
            <a:off x="822960" y="2496312"/>
            <a:ext cx="10515600" cy="15545"/>
          </a:xfrm>
          <a:prstGeom prst="rect">
            <a:avLst/>
          </a:prstGeom>
          <a:solidFill>
            <a:srgbClr val="22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Oval 103"/>
          <p:cNvSpPr/>
          <p:nvPr/>
        </p:nvSpPr>
        <p:spPr>
          <a:xfrm>
            <a:off x="868680" y="2715768"/>
            <a:ext cx="164592" cy="164592"/>
          </a:xfrm>
          <a:prstGeom prst="ellipse">
            <a:avLst/>
          </a:prstGeom>
          <a:solidFill>
            <a:srgbClr val="7FC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4"/>
          <p:cNvSpPr txBox="1"/>
          <p:nvPr/>
        </p:nvSpPr>
        <p:spPr>
          <a:xfrm>
            <a:off x="1234440" y="2560320"/>
            <a:ext cx="9966960" cy="82296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Open XML 编译器：11 种布局注册表，一键扩展，不碰分发逻辑</a:t>
            </a:r>
          </a:p>
        </p:txBody>
      </p:sp>
      <p:sp>
        <p:nvSpPr>
          <p:cNvPr id="105" name="Background 105"/>
          <p:cNvSpPr/>
          <p:nvPr/>
        </p:nvSpPr>
        <p:spPr>
          <a:xfrm>
            <a:off x="822960" y="3429000"/>
            <a:ext cx="10515600" cy="15545"/>
          </a:xfrm>
          <a:prstGeom prst="rect">
            <a:avLst/>
          </a:prstGeom>
          <a:solidFill>
            <a:srgbClr val="22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Oval 106"/>
          <p:cNvSpPr/>
          <p:nvPr/>
        </p:nvSpPr>
        <p:spPr>
          <a:xfrm>
            <a:off x="868680" y="3648456"/>
            <a:ext cx="164592" cy="164592"/>
          </a:xfrm>
          <a:prstGeom prst="ellipse">
            <a:avLst/>
          </a:prstGeom>
          <a:solidFill>
            <a:srgbClr val="7FC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TextBox 107"/>
          <p:cNvSpPr txBox="1"/>
          <p:nvPr/>
        </p:nvSpPr>
        <p:spPr>
          <a:xfrm>
            <a:off x="1234440" y="3493008"/>
            <a:ext cx="9966960" cy="82296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桌面 COM 渲染：PDF + 逐页 PNG（DispatchEx 专用实例）</a:t>
            </a:r>
          </a:p>
        </p:txBody>
      </p:sp>
      <p:sp>
        <p:nvSpPr>
          <p:cNvPr id="108" name="Background 108"/>
          <p:cNvSpPr/>
          <p:nvPr/>
        </p:nvSpPr>
        <p:spPr>
          <a:xfrm>
            <a:off x="822960" y="4361688"/>
            <a:ext cx="10515600" cy="15545"/>
          </a:xfrm>
          <a:prstGeom prst="rect">
            <a:avLst/>
          </a:prstGeom>
          <a:solidFill>
            <a:srgbClr val="22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Oval 109"/>
          <p:cNvSpPr/>
          <p:nvPr/>
        </p:nvSpPr>
        <p:spPr>
          <a:xfrm>
            <a:off x="868680" y="4581144"/>
            <a:ext cx="164592" cy="164592"/>
          </a:xfrm>
          <a:prstGeom prst="ellipse">
            <a:avLst/>
          </a:prstGeom>
          <a:solidFill>
            <a:srgbClr val="7FC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10"/>
          <p:cNvSpPr txBox="1"/>
          <p:nvPr/>
        </p:nvSpPr>
        <p:spPr>
          <a:xfrm>
            <a:off x="1234440" y="4425696"/>
            <a:ext cx="9966960" cy="82296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结构验证：信封契约 + 产物存在性 + 溢出与对比度检查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6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架构分层</a:t>
            </a:r>
          </a:p>
        </p:txBody>
      </p:sp>
      <p:sp>
        <p:nvSpPr>
          <p:cNvPr id="7" name="Background 7"/>
          <p:cNvSpPr/>
          <p:nvPr/>
        </p:nvSpPr>
        <p:spPr>
          <a:xfrm>
            <a:off x="822960" y="1298448"/>
            <a:ext cx="822960" cy="45720"/>
          </a:xfrm>
          <a:prstGeom prst="rect">
            <a:avLst/>
          </a:prstGeom>
          <a:solidFill>
            <a:srgbClr val="4D9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0" name="Oval 500"/>
          <p:cNvSpPr/>
          <p:nvPr/>
        </p:nvSpPr>
        <p:spPr>
          <a:xfrm>
            <a:off x="2148840" y="1819656"/>
            <a:ext cx="384048" cy="384048"/>
          </a:xfrm>
          <a:prstGeom prst="ellipse">
            <a:avLst/>
          </a:prstGeom>
          <a:solidFill>
            <a:srgbClr val="0F141E"/>
          </a:solidFill>
          <a:ln w="19050">
            <a:solidFill>
              <a:srgbClr val="4D9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 algn="ctr">
            <a:r>
              <a:rPr sz="1200" b="1">
                <a:solidFill>
                  <a:srgbClr val="4D9DE0"/>
                </a:solidFill>
                <a:latin typeface="Segoe UI"/>
                <a:ea typeface="Microsoft YaHei"/>
                <a:cs typeface="Segoe UI"/>
              </a:rPr>
              <a:t>1</a:t>
            </a:r>
          </a:p>
        </p:txBody>
      </p:sp>
      <p:sp>
        <p:nvSpPr>
          <p:cNvPr id="520" name="RoundRect 520"/>
          <p:cNvSpPr/>
          <p:nvPr/>
        </p:nvSpPr>
        <p:spPr>
          <a:xfrm>
            <a:off x="2788920" y="1673352"/>
            <a:ext cx="854964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l">
            <a:r>
              <a:rPr lang="zh-CN" sz="14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Deck IR：镜像 dcc-mcp-office-ir 演示文稿 schema</a:t>
            </a:r>
          </a:p>
        </p:txBody>
      </p:sp>
      <p:sp>
        <p:nvSpPr>
          <p:cNvPr id="501" name="Oval 501"/>
          <p:cNvSpPr/>
          <p:nvPr/>
        </p:nvSpPr>
        <p:spPr>
          <a:xfrm>
            <a:off x="2148840" y="2688336"/>
            <a:ext cx="384048" cy="384048"/>
          </a:xfrm>
          <a:prstGeom prst="ellipse">
            <a:avLst/>
          </a:prstGeom>
          <a:solidFill>
            <a:srgbClr val="0F141E"/>
          </a:solidFill>
          <a:ln w="19050">
            <a:solidFill>
              <a:srgbClr val="4D9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 algn="ctr">
            <a:r>
              <a:rPr sz="1200" b="1">
                <a:solidFill>
                  <a:srgbClr val="4D9DE0"/>
                </a:solidFill>
                <a:latin typeface="Segoe UI"/>
                <a:ea typeface="Microsoft YaHei"/>
                <a:cs typeface="Segoe UI"/>
              </a:rPr>
              <a:t>2</a:t>
            </a:r>
          </a:p>
        </p:txBody>
      </p:sp>
      <p:sp>
        <p:nvSpPr>
          <p:cNvPr id="521" name="RoundRect 521"/>
          <p:cNvSpPr/>
          <p:nvPr/>
        </p:nvSpPr>
        <p:spPr>
          <a:xfrm>
            <a:off x="2788920" y="2542032"/>
            <a:ext cx="854964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l">
            <a:r>
              <a:rPr lang="zh-CN" sz="14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DeckCompiler：语义布局注册表 → python-pptx Open XML</a:t>
            </a:r>
          </a:p>
        </p:txBody>
      </p:sp>
      <p:sp>
        <p:nvSpPr>
          <p:cNvPr id="502" name="Oval 502"/>
          <p:cNvSpPr/>
          <p:nvPr/>
        </p:nvSpPr>
        <p:spPr>
          <a:xfrm>
            <a:off x="2148840" y="3557016"/>
            <a:ext cx="384048" cy="384048"/>
          </a:xfrm>
          <a:prstGeom prst="ellipse">
            <a:avLst/>
          </a:prstGeom>
          <a:solidFill>
            <a:srgbClr val="0F141E"/>
          </a:solidFill>
          <a:ln w="19050">
            <a:solidFill>
              <a:srgbClr val="4D9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 algn="ctr">
            <a:r>
              <a:rPr sz="1200" b="1">
                <a:solidFill>
                  <a:srgbClr val="4D9DE0"/>
                </a:solidFill>
                <a:latin typeface="Segoe UI"/>
                <a:ea typeface="Microsoft YaHei"/>
                <a:cs typeface="Segoe UI"/>
              </a:rPr>
              <a:t>3</a:t>
            </a:r>
          </a:p>
        </p:txBody>
      </p:sp>
      <p:sp>
        <p:nvSpPr>
          <p:cNvPr id="522" name="RoundRect 522"/>
          <p:cNvSpPr/>
          <p:nvPr/>
        </p:nvSpPr>
        <p:spPr>
          <a:xfrm>
            <a:off x="2788920" y="3410712"/>
            <a:ext cx="854964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l">
            <a:r>
              <a:rPr lang="zh-CN" sz="14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Renderer：PowerPoint COM → PDF / PNG 预览</a:t>
            </a:r>
          </a:p>
        </p:txBody>
      </p:sp>
      <p:sp>
        <p:nvSpPr>
          <p:cNvPr id="503" name="Oval 503"/>
          <p:cNvSpPr/>
          <p:nvPr/>
        </p:nvSpPr>
        <p:spPr>
          <a:xfrm>
            <a:off x="2148840" y="4425696"/>
            <a:ext cx="384048" cy="384048"/>
          </a:xfrm>
          <a:prstGeom prst="ellipse">
            <a:avLst/>
          </a:prstGeom>
          <a:solidFill>
            <a:srgbClr val="0F141E"/>
          </a:solidFill>
          <a:ln w="19050">
            <a:solidFill>
              <a:srgbClr val="4D9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 algn="ctr">
            <a:r>
              <a:rPr sz="1200" b="1">
                <a:solidFill>
                  <a:srgbClr val="4D9DE0"/>
                </a:solidFill>
                <a:latin typeface="Segoe UI"/>
                <a:ea typeface="Microsoft YaHei"/>
                <a:cs typeface="Segoe UI"/>
              </a:rPr>
              <a:t>4</a:t>
            </a:r>
          </a:p>
        </p:txBody>
      </p:sp>
      <p:sp>
        <p:nvSpPr>
          <p:cNvPr id="523" name="RoundRect 523"/>
          <p:cNvSpPr/>
          <p:nvPr/>
        </p:nvSpPr>
        <p:spPr>
          <a:xfrm>
            <a:off x="2788920" y="4279392"/>
            <a:ext cx="854964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l">
            <a:r>
              <a:rPr lang="zh-CN" sz="14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Validate + Analyze：结构与视觉问题诊断</a:t>
            </a:r>
          </a:p>
        </p:txBody>
      </p:sp>
      <p:sp>
        <p:nvSpPr>
          <p:cNvPr id="504" name="Oval 504"/>
          <p:cNvSpPr/>
          <p:nvPr/>
        </p:nvSpPr>
        <p:spPr>
          <a:xfrm>
            <a:off x="2148840" y="5294376"/>
            <a:ext cx="384048" cy="384048"/>
          </a:xfrm>
          <a:prstGeom prst="ellipse">
            <a:avLst/>
          </a:prstGeom>
          <a:solidFill>
            <a:srgbClr val="0F141E"/>
          </a:solidFill>
          <a:ln w="19050">
            <a:solidFill>
              <a:srgbClr val="4D9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 algn="ctr">
            <a:r>
              <a:rPr sz="1200" b="1">
                <a:solidFill>
                  <a:srgbClr val="4D9DE0"/>
                </a:solidFill>
                <a:latin typeface="Segoe UI"/>
                <a:ea typeface="Microsoft YaHei"/>
                <a:cs typeface="Segoe UI"/>
              </a:rPr>
              <a:t>5</a:t>
            </a:r>
          </a:p>
        </p:txBody>
      </p:sp>
      <p:sp>
        <p:nvSpPr>
          <p:cNvPr id="524" name="RoundRect 524"/>
          <p:cNvSpPr/>
          <p:nvPr/>
        </p:nvSpPr>
        <p:spPr>
          <a:xfrm>
            <a:off x="2788920" y="5148072"/>
            <a:ext cx="854964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l">
            <a:r>
              <a:rPr lang="zh-CN" sz="14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Layers / Edits / Plugins：生成后能力面（本分支新增）</a:t>
            </a:r>
          </a:p>
        </p:txBody>
      </p:sp>
      <p:cxnSp>
        <p:nvCxnSpPr>
          <p:cNvPr id="600" name="Connector 600"/>
          <p:cNvCxnSpPr/>
          <p:nvPr/>
        </p:nvCxnSpPr>
        <p:spPr>
          <a:xfrm>
            <a:off x="2340864" y="2194560"/>
            <a:ext cx="0" cy="3474720"/>
          </a:xfrm>
          <a:prstGeom prst="line">
            <a:avLst/>
          </a:prstGeom>
          <a:ln w="19050">
            <a:solidFill>
              <a:srgbClr val="4D9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6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能力数字</a:t>
            </a:r>
          </a:p>
        </p:txBody>
      </p:sp>
      <p:sp>
        <p:nvSpPr>
          <p:cNvPr id="7" name="Background 7"/>
          <p:cNvSpPr/>
          <p:nvPr/>
        </p:nvSpPr>
        <p:spPr>
          <a:xfrm>
            <a:off x="822960" y="1298448"/>
            <a:ext cx="822960" cy="45720"/>
          </a:xfrm>
          <a:prstGeom prst="rect">
            <a:avLst/>
          </a:prstGeom>
          <a:solidFill>
            <a:srgbClr val="4D9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0" name="RoundRect 400"/>
          <p:cNvSpPr/>
          <p:nvPr/>
        </p:nvSpPr>
        <p:spPr>
          <a:xfrm>
            <a:off x="822960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ctr">
            <a:r>
              <a:rPr lang="zh-CN" sz="260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11</a:t>
            </a:r>
          </a:p>
          <a:p algn="ctr">
            <a:r>
              <a:rPr lang="zh-CN" sz="260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语义布局</a:t>
            </a:r>
          </a:p>
        </p:txBody>
      </p:sp>
      <p:sp>
        <p:nvSpPr>
          <p:cNvPr id="430" name="Background 430"/>
          <p:cNvSpPr/>
          <p:nvPr/>
        </p:nvSpPr>
        <p:spPr>
          <a:xfrm>
            <a:off x="1188720" y="1627632"/>
            <a:ext cx="502920" cy="50292"/>
          </a:xfrm>
          <a:prstGeom prst="rect">
            <a:avLst/>
          </a:prstGeom>
          <a:solidFill>
            <a:srgbClr val="7FC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1" name="RoundRect 401"/>
          <p:cNvSpPr/>
          <p:nvPr/>
        </p:nvSpPr>
        <p:spPr>
          <a:xfrm>
            <a:off x="4389120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ctr">
            <a:r>
              <a:rPr lang="zh-CN" sz="260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6</a:t>
            </a:r>
          </a:p>
          <a:p algn="ctr">
            <a:r>
              <a:rPr lang="zh-CN" sz="260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内置图层</a:t>
            </a:r>
          </a:p>
        </p:txBody>
      </p:sp>
      <p:sp>
        <p:nvSpPr>
          <p:cNvPr id="431" name="Background 431"/>
          <p:cNvSpPr/>
          <p:nvPr/>
        </p:nvSpPr>
        <p:spPr>
          <a:xfrm>
            <a:off x="4754880" y="1627632"/>
            <a:ext cx="502920" cy="50292"/>
          </a:xfrm>
          <a:prstGeom prst="rect">
            <a:avLst/>
          </a:prstGeom>
          <a:solidFill>
            <a:srgbClr val="7FC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2" name="RoundRect 402"/>
          <p:cNvSpPr/>
          <p:nvPr/>
        </p:nvSpPr>
        <p:spPr>
          <a:xfrm>
            <a:off x="7955280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ctr">
            <a:r>
              <a:rPr lang="zh-CN" sz="260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12</a:t>
            </a:r>
          </a:p>
          <a:p algn="ctr">
            <a:r>
              <a:rPr lang="zh-CN" sz="260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补丁操作</a:t>
            </a:r>
          </a:p>
        </p:txBody>
      </p:sp>
      <p:sp>
        <p:nvSpPr>
          <p:cNvPr id="432" name="Background 432"/>
          <p:cNvSpPr/>
          <p:nvPr/>
        </p:nvSpPr>
        <p:spPr>
          <a:xfrm>
            <a:off x="8321040" y="1627632"/>
            <a:ext cx="502920" cy="50292"/>
          </a:xfrm>
          <a:prstGeom prst="rect">
            <a:avLst/>
          </a:prstGeom>
          <a:solidFill>
            <a:srgbClr val="7FC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3" name="RoundRect 403"/>
          <p:cNvSpPr/>
          <p:nvPr/>
        </p:nvSpPr>
        <p:spPr>
          <a:xfrm>
            <a:off x="822960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ctr">
            <a:r>
              <a:rPr lang="zh-CN" sz="260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4</a:t>
            </a:r>
          </a:p>
          <a:p algn="ctr">
            <a:r>
              <a:rPr lang="zh-CN" sz="260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技能包</a:t>
            </a:r>
          </a:p>
        </p:txBody>
      </p:sp>
      <p:sp>
        <p:nvSpPr>
          <p:cNvPr id="433" name="Background 433"/>
          <p:cNvSpPr/>
          <p:nvPr/>
        </p:nvSpPr>
        <p:spPr>
          <a:xfrm>
            <a:off x="1188720" y="3547872"/>
            <a:ext cx="502920" cy="50292"/>
          </a:xfrm>
          <a:prstGeom prst="rect">
            <a:avLst/>
          </a:prstGeom>
          <a:solidFill>
            <a:srgbClr val="7FC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4" name="RoundRect 404"/>
          <p:cNvSpPr/>
          <p:nvPr/>
        </p:nvSpPr>
        <p:spPr>
          <a:xfrm>
            <a:off x="4389120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ctr">
            <a:r>
              <a:rPr lang="zh-CN" sz="260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2</a:t>
            </a:r>
          </a:p>
          <a:p algn="ctr">
            <a:r>
              <a:rPr lang="zh-CN" sz="260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渲染产物（PDF/PNG）</a:t>
            </a:r>
          </a:p>
        </p:txBody>
      </p:sp>
      <p:sp>
        <p:nvSpPr>
          <p:cNvPr id="434" name="Background 434"/>
          <p:cNvSpPr/>
          <p:nvPr/>
        </p:nvSpPr>
        <p:spPr>
          <a:xfrm>
            <a:off x="4754880" y="3547872"/>
            <a:ext cx="502920" cy="50292"/>
          </a:xfrm>
          <a:prstGeom prst="rect">
            <a:avLst/>
          </a:prstGeom>
          <a:solidFill>
            <a:srgbClr val="7FC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5" name="RoundRect 405"/>
          <p:cNvSpPr/>
          <p:nvPr/>
        </p:nvSpPr>
        <p:spPr>
          <a:xfrm>
            <a:off x="7955280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ctr">
            <a:r>
              <a:rPr lang="zh-CN" sz="260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0</a:t>
            </a:r>
          </a:p>
          <a:p algn="ctr">
            <a:r>
              <a:rPr lang="zh-CN" sz="260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运行时第三方依赖</a:t>
            </a:r>
          </a:p>
        </p:txBody>
      </p:sp>
      <p:sp>
        <p:nvSpPr>
          <p:cNvPr id="435" name="Background 435"/>
          <p:cNvSpPr/>
          <p:nvPr/>
        </p:nvSpPr>
        <p:spPr>
          <a:xfrm>
            <a:off x="8321040" y="3547872"/>
            <a:ext cx="502920" cy="50292"/>
          </a:xfrm>
          <a:prstGeom prst="rect">
            <a:avLst/>
          </a:prstGeom>
          <a:solidFill>
            <a:srgbClr val="7FC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6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双后端对比</a:t>
            </a:r>
          </a:p>
        </p:txBody>
      </p:sp>
      <p:sp>
        <p:nvSpPr>
          <p:cNvPr id="7" name="Background 7"/>
          <p:cNvSpPr/>
          <p:nvPr/>
        </p:nvSpPr>
        <p:spPr>
          <a:xfrm>
            <a:off x="822960" y="1298448"/>
            <a:ext cx="822960" cy="45720"/>
          </a:xfrm>
          <a:prstGeom prst="rect">
            <a:avLst/>
          </a:prstGeom>
          <a:solidFill>
            <a:srgbClr val="4D9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0" name="RoundRect 200"/>
          <p:cNvSpPr/>
          <p:nvPr/>
        </p:nvSpPr>
        <p:spPr>
          <a:xfrm>
            <a:off x="822960" y="1627632"/>
            <a:ext cx="5120640" cy="566928"/>
          </a:xfrm>
          <a:prstGeom prst="roundRect">
            <a:avLst>
              <a:gd name="adj" fmla="val 16000"/>
            </a:avLst>
          </a:prstGeom>
          <a:solidFill>
            <a:srgbClr val="4D9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l">
            <a:r>
              <a:rPr lang="zh-CN" sz="16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Open XML 后端</a:t>
            </a:r>
          </a:p>
        </p:txBody>
      </p:sp>
      <p:sp>
        <p:nvSpPr>
          <p:cNvPr id="201" name="RoundRect 201"/>
          <p:cNvSpPr/>
          <p:nvPr/>
        </p:nvSpPr>
        <p:spPr>
          <a:xfrm>
            <a:off x="822960" y="2304288"/>
            <a:ext cx="5120640" cy="3749040"/>
          </a:xfrm>
          <a:prstGeom prst="roundRect">
            <a:avLst>
              <a:gd name="adj" fmla="val 5000"/>
            </a:avLst>
          </a:prstGeom>
          <a:solidFill>
            <a:srgbClr val="1E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l">
            <a:r>
              <a:rPr lang="zh-CN" sz="14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无 Office 环境可编译</a:t>
            </a:r>
          </a:p>
          <a:p algn="l">
            <a:r>
              <a:rPr lang="zh-CN" sz="14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结构确定性、可版本管理</a:t>
            </a:r>
          </a:p>
          <a:p algn="l">
            <a:r>
              <a:rPr lang="zh-CN" sz="14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毫秒级生成</a:t>
            </a:r>
          </a:p>
        </p:txBody>
      </p:sp>
      <p:sp>
        <p:nvSpPr>
          <p:cNvPr id="220" name="RoundRect 220"/>
          <p:cNvSpPr/>
          <p:nvPr/>
        </p:nvSpPr>
        <p:spPr>
          <a:xfrm>
            <a:off x="6309360" y="1627632"/>
            <a:ext cx="5120640" cy="566928"/>
          </a:xfrm>
          <a:prstGeom prst="roundRect">
            <a:avLst>
              <a:gd name="adj" fmla="val 16000"/>
            </a:avLst>
          </a:prstGeom>
          <a:solidFill>
            <a:srgbClr val="7FC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l">
            <a:r>
              <a:rPr lang="zh-CN" sz="16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COM 渲染后端</a:t>
            </a:r>
          </a:p>
        </p:txBody>
      </p:sp>
      <p:sp>
        <p:nvSpPr>
          <p:cNvPr id="221" name="RoundRect 221"/>
          <p:cNvSpPr/>
          <p:nvPr/>
        </p:nvSpPr>
        <p:spPr>
          <a:xfrm>
            <a:off x="6309360" y="2304288"/>
            <a:ext cx="5120640" cy="3749040"/>
          </a:xfrm>
          <a:prstGeom prst="roundRect">
            <a:avLst>
              <a:gd name="adj" fmla="val 5000"/>
            </a:avLst>
          </a:prstGeom>
          <a:solidFill>
            <a:srgbClr val="1E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l">
            <a:r>
              <a:rPr lang="zh-CN" sz="14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PDF 矢量导出</a:t>
            </a:r>
          </a:p>
          <a:p algn="l">
            <a:r>
              <a:rPr lang="zh-CN" sz="14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逐页 PNG 预览</a:t>
            </a:r>
          </a:p>
          <a:p algn="l">
            <a:r>
              <a:rPr lang="zh-CN" sz="14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Office 缺席时显式降级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6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设计取舍</a:t>
            </a:r>
          </a:p>
        </p:txBody>
      </p:sp>
      <p:sp>
        <p:nvSpPr>
          <p:cNvPr id="7" name="Background 7"/>
          <p:cNvSpPr/>
          <p:nvPr/>
        </p:nvSpPr>
        <p:spPr>
          <a:xfrm>
            <a:off x="822960" y="1298448"/>
            <a:ext cx="822960" cy="45720"/>
          </a:xfrm>
          <a:prstGeom prst="rect">
            <a:avLst/>
          </a:prstGeom>
          <a:solidFill>
            <a:srgbClr val="4D9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0" name="RoundRect 240"/>
          <p:cNvSpPr/>
          <p:nvPr/>
        </p:nvSpPr>
        <p:spPr>
          <a:xfrm>
            <a:off x="822960" y="1627632"/>
            <a:ext cx="5120640" cy="566928"/>
          </a:xfrm>
          <a:prstGeom prst="roundRect">
            <a:avLst>
              <a:gd name="adj" fmla="val 16000"/>
            </a:avLst>
          </a:prstGeom>
          <a:solidFill>
            <a:srgbClr val="4D9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ctr">
            <a:r>
              <a:rPr lang="zh-CN" sz="16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结构化优先</a:t>
            </a:r>
          </a:p>
        </p:txBody>
      </p:sp>
      <p:sp>
        <p:nvSpPr>
          <p:cNvPr id="241" name="RoundRect 241"/>
          <p:cNvSpPr/>
          <p:nvPr/>
        </p:nvSpPr>
        <p:spPr>
          <a:xfrm>
            <a:off x="822960" y="2304288"/>
            <a:ext cx="5120640" cy="3749040"/>
          </a:xfrm>
          <a:prstGeom prst="roundRect">
            <a:avLst>
              <a:gd name="adj" fmla="val 5000"/>
            </a:avLst>
          </a:prstGeom>
          <a:solidFill>
            <a:srgbClr val="1E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l">
            <a:r>
              <a:rPr lang="zh-CN" sz="14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✓  语义布局而非坐标</a:t>
            </a:r>
          </a:p>
          <a:p algn="l">
            <a:r>
              <a:rPr lang="zh-CN" sz="14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✓  契约先行、验证兜底</a:t>
            </a:r>
          </a:p>
          <a:p algn="l">
            <a:r>
              <a:rPr lang="zh-CN" sz="14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✓  写操作不静默降级</a:t>
            </a:r>
          </a:p>
        </p:txBody>
      </p:sp>
      <p:sp>
        <p:nvSpPr>
          <p:cNvPr id="260" name="RoundRect 260"/>
          <p:cNvSpPr/>
          <p:nvPr/>
        </p:nvSpPr>
        <p:spPr>
          <a:xfrm>
            <a:off x="6309360" y="1627632"/>
            <a:ext cx="5120640" cy="566928"/>
          </a:xfrm>
          <a:prstGeom prst="roundRect">
            <a:avLst>
              <a:gd name="adj" fmla="val 16000"/>
            </a:avLst>
          </a:prstGeom>
          <a:solidFill>
            <a:srgbClr val="7FC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ctr">
            <a:r>
              <a:rPr lang="zh-CN" sz="16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能力边界内自研</a:t>
            </a:r>
          </a:p>
        </p:txBody>
      </p:sp>
      <p:sp>
        <p:nvSpPr>
          <p:cNvPr id="261" name="RoundRect 261"/>
          <p:cNvSpPr/>
          <p:nvPr/>
        </p:nvSpPr>
        <p:spPr>
          <a:xfrm>
            <a:off x="6309360" y="2304288"/>
            <a:ext cx="5120640" cy="3749040"/>
          </a:xfrm>
          <a:prstGeom prst="roundRect">
            <a:avLst>
              <a:gd name="adj" fmla="val 5000"/>
            </a:avLst>
          </a:prstGeom>
          <a:solidFill>
            <a:srgbClr val="1E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l">
            <a:r>
              <a:rPr lang="zh-CN" sz="14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✓  C# 宿主承重（COM/OpenXML）</a:t>
            </a:r>
          </a:p>
          <a:p algn="l">
            <a:r>
              <a:rPr lang="zh-CN" sz="14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✓  越界能力回上游 dcc-mcp-office</a:t>
            </a:r>
          </a:p>
          <a:p algn="l">
            <a:r>
              <a:rPr lang="zh-CN" sz="14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✓  缺陷修复优先提 PR 上游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6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一次调用的旅程</a:t>
            </a:r>
          </a:p>
        </p:txBody>
      </p:sp>
      <p:sp>
        <p:nvSpPr>
          <p:cNvPr id="7" name="Background 7"/>
          <p:cNvSpPr/>
          <p:nvPr/>
        </p:nvSpPr>
        <p:spPr>
          <a:xfrm>
            <a:off x="822960" y="1298448"/>
            <a:ext cx="822960" cy="45720"/>
          </a:xfrm>
          <a:prstGeom prst="rect">
            <a:avLst/>
          </a:prstGeom>
          <a:solidFill>
            <a:srgbClr val="4D9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0" name="Background 300"/>
          <p:cNvSpPr/>
          <p:nvPr/>
        </p:nvSpPr>
        <p:spPr>
          <a:xfrm>
            <a:off x="822960" y="3246120"/>
            <a:ext cx="10515600" cy="36576"/>
          </a:xfrm>
          <a:prstGeom prst="rect">
            <a:avLst/>
          </a:prstGeom>
          <a:solidFill>
            <a:srgbClr val="4D9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1" name="Oval 301"/>
          <p:cNvSpPr/>
          <p:nvPr/>
        </p:nvSpPr>
        <p:spPr>
          <a:xfrm>
            <a:off x="1719072" y="3090672"/>
            <a:ext cx="310896" cy="310896"/>
          </a:xfrm>
          <a:prstGeom prst="ellipse">
            <a:avLst/>
          </a:prstGeom>
          <a:solidFill>
            <a:srgbClr val="0F141E"/>
          </a:solidFill>
          <a:ln w="19050">
            <a:solidFill>
              <a:srgbClr val="7FC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 algn="ctr">
            <a:r>
              <a:rPr sz="1200" b="1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1</a:t>
            </a:r>
          </a:p>
        </p:txBody>
      </p:sp>
      <p:sp>
        <p:nvSpPr>
          <p:cNvPr id="302" name="TextBox 302"/>
          <p:cNvSpPr txBox="1"/>
          <p:nvPr/>
        </p:nvSpPr>
        <p:spPr>
          <a:xfrm>
            <a:off x="960120" y="2103120"/>
            <a:ext cx="1828800" cy="96012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ctr">
            <a:r>
              <a:rPr lang="zh-CN" sz="13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叙述规划</a:t>
            </a:r>
          </a:p>
        </p:txBody>
      </p:sp>
      <p:sp>
        <p:nvSpPr>
          <p:cNvPr id="303" name="Oval 303"/>
          <p:cNvSpPr/>
          <p:nvPr/>
        </p:nvSpPr>
        <p:spPr>
          <a:xfrm>
            <a:off x="3822192" y="3090672"/>
            <a:ext cx="310896" cy="310896"/>
          </a:xfrm>
          <a:prstGeom prst="ellipse">
            <a:avLst/>
          </a:prstGeom>
          <a:solidFill>
            <a:srgbClr val="0F141E"/>
          </a:solidFill>
          <a:ln w="19050">
            <a:solidFill>
              <a:srgbClr val="7FC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 algn="ctr">
            <a:r>
              <a:rPr sz="1200" b="1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2</a:t>
            </a:r>
          </a:p>
        </p:txBody>
      </p:sp>
      <p:sp>
        <p:nvSpPr>
          <p:cNvPr id="304" name="TextBox 304"/>
          <p:cNvSpPr txBox="1"/>
          <p:nvPr/>
        </p:nvSpPr>
        <p:spPr>
          <a:xfrm>
            <a:off x="3063240" y="3566160"/>
            <a:ext cx="1828800" cy="96012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ctr">
            <a:r>
              <a:rPr lang="zh-CN" sz="13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Deck IR</a:t>
            </a:r>
          </a:p>
        </p:txBody>
      </p:sp>
      <p:sp>
        <p:nvSpPr>
          <p:cNvPr id="305" name="Oval 305"/>
          <p:cNvSpPr/>
          <p:nvPr/>
        </p:nvSpPr>
        <p:spPr>
          <a:xfrm>
            <a:off x="5925312" y="3090672"/>
            <a:ext cx="310896" cy="310896"/>
          </a:xfrm>
          <a:prstGeom prst="ellipse">
            <a:avLst/>
          </a:prstGeom>
          <a:solidFill>
            <a:srgbClr val="0F141E"/>
          </a:solidFill>
          <a:ln w="19050">
            <a:solidFill>
              <a:srgbClr val="7FC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 algn="ctr">
            <a:r>
              <a:rPr sz="1200" b="1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3</a:t>
            </a:r>
          </a:p>
        </p:txBody>
      </p:sp>
      <p:sp>
        <p:nvSpPr>
          <p:cNvPr id="306" name="TextBox 306"/>
          <p:cNvSpPr txBox="1"/>
          <p:nvPr/>
        </p:nvSpPr>
        <p:spPr>
          <a:xfrm>
            <a:off x="5166360" y="2103120"/>
            <a:ext cx="1828800" cy="96012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ctr">
            <a:r>
              <a:rPr lang="zh-CN" sz="13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编译</a:t>
            </a:r>
          </a:p>
        </p:txBody>
      </p:sp>
      <p:sp>
        <p:nvSpPr>
          <p:cNvPr id="307" name="Oval 307"/>
          <p:cNvSpPr/>
          <p:nvPr/>
        </p:nvSpPr>
        <p:spPr>
          <a:xfrm>
            <a:off x="8028432" y="3090672"/>
            <a:ext cx="310896" cy="310896"/>
          </a:xfrm>
          <a:prstGeom prst="ellipse">
            <a:avLst/>
          </a:prstGeom>
          <a:solidFill>
            <a:srgbClr val="0F141E"/>
          </a:solidFill>
          <a:ln w="19050">
            <a:solidFill>
              <a:srgbClr val="7FC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 algn="ctr">
            <a:r>
              <a:rPr sz="1200" b="1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4</a:t>
            </a:r>
          </a:p>
        </p:txBody>
      </p:sp>
      <p:sp>
        <p:nvSpPr>
          <p:cNvPr id="308" name="TextBox 308"/>
          <p:cNvSpPr txBox="1"/>
          <p:nvPr/>
        </p:nvSpPr>
        <p:spPr>
          <a:xfrm>
            <a:off x="7269480" y="3566160"/>
            <a:ext cx="1828800" cy="96012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ctr">
            <a:r>
              <a:rPr lang="zh-CN" sz="13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渲染</a:t>
            </a:r>
          </a:p>
        </p:txBody>
      </p:sp>
      <p:sp>
        <p:nvSpPr>
          <p:cNvPr id="309" name="Oval 309"/>
          <p:cNvSpPr/>
          <p:nvPr/>
        </p:nvSpPr>
        <p:spPr>
          <a:xfrm>
            <a:off x="10131552" y="3090672"/>
            <a:ext cx="310896" cy="310896"/>
          </a:xfrm>
          <a:prstGeom prst="ellipse">
            <a:avLst/>
          </a:prstGeom>
          <a:solidFill>
            <a:srgbClr val="0F141E"/>
          </a:solidFill>
          <a:ln w="19050">
            <a:solidFill>
              <a:srgbClr val="7FC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 algn="ctr">
            <a:r>
              <a:rPr sz="1200" b="1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5</a:t>
            </a:r>
          </a:p>
        </p:txBody>
      </p:sp>
      <p:sp>
        <p:nvSpPr>
          <p:cNvPr id="310" name="TextBox 310"/>
          <p:cNvSpPr txBox="1"/>
          <p:nvPr/>
        </p:nvSpPr>
        <p:spPr>
          <a:xfrm>
            <a:off x="9372600" y="2103120"/>
            <a:ext cx="1828800" cy="96012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ctr">
            <a:r>
              <a:rPr lang="zh-CN" sz="13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验证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6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真实案例：Blender Lookdev</a:t>
            </a:r>
          </a:p>
        </p:txBody>
      </p:sp>
      <p:sp>
        <p:nvSpPr>
          <p:cNvPr id="7" name="Background 7"/>
          <p:cNvSpPr/>
          <p:nvPr/>
        </p:nvSpPr>
        <p:spPr>
          <a:xfrm>
            <a:off x="822960" y="1298448"/>
            <a:ext cx="822960" cy="45720"/>
          </a:xfrm>
          <a:prstGeom prst="rect">
            <a:avLst/>
          </a:prstGeom>
          <a:solidFill>
            <a:srgbClr val="4D9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0" name="TextBox 700"/>
          <p:cNvSpPr txBox="1"/>
          <p:nvPr/>
        </p:nvSpPr>
        <p:spPr>
          <a:xfrm>
            <a:off x="822960" y="1627632"/>
            <a:ext cx="5394960" cy="4572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10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missing_asset: examples/assets/showcase/blender-lookdev.png</a:t>
            </a:r>
          </a:p>
        </p:txBody>
      </p:sp>
      <p:sp>
        <p:nvSpPr>
          <p:cNvPr id="701" name="RoundRect 701"/>
          <p:cNvSpPr/>
          <p:nvPr/>
        </p:nvSpPr>
        <p:spPr>
          <a:xfrm>
            <a:off x="6446520" y="1627632"/>
            <a:ext cx="4892040" cy="4297680"/>
          </a:xfrm>
          <a:prstGeom prst="roundRect">
            <a:avLst>
              <a:gd name="adj" fmla="val 5000"/>
            </a:avLst>
          </a:prstGeom>
          <a:solidFill>
            <a:srgbClr val="1E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l">
            <a:r>
              <a:rPr lang="zh-CN" sz="14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来自 DCC 渲染管线的真实产物</a:t>
            </a:r>
          </a:p>
          <a:p algn="l">
            <a:r>
              <a:rPr lang="zh-CN" sz="14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图片左置 + 要点右侧面板</a:t>
            </a:r>
          </a:p>
          <a:p algn="l">
            <a:r>
              <a:rPr lang="zh-CN" sz="14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alt 文本随图片写入（可访问性）</a:t>
            </a:r>
          </a:p>
          <a:p algn="l">
            <a:r>
              <a:rPr lang="zh-CN" sz="14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缺失资产显式占位，绝不静默丢图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6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覆盖的 DCC 工具</a:t>
            </a:r>
          </a:p>
        </p:txBody>
      </p:sp>
      <p:sp>
        <p:nvSpPr>
          <p:cNvPr id="7" name="Background 7"/>
          <p:cNvSpPr/>
          <p:nvPr/>
        </p:nvSpPr>
        <p:spPr>
          <a:xfrm>
            <a:off x="822960" y="1298448"/>
            <a:ext cx="822960" cy="45720"/>
          </a:xfrm>
          <a:prstGeom prst="rect">
            <a:avLst/>
          </a:prstGeom>
          <a:solidFill>
            <a:srgbClr val="4D9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0" name="RoundRect 800"/>
          <p:cNvSpPr/>
          <p:nvPr/>
        </p:nvSpPr>
        <p:spPr>
          <a:xfrm>
            <a:off x="822960" y="1627632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50" name="Picture 850" descr="Maya"/>
          <p:cNvPicPr/>
          <p:nvPr/>
        </p:nvPicPr>
        <p:blipFill>
          <a:blip r:embed="Rdc78140f2b1a4185"/>
          <a:stretch>
            <a:fillRect/>
          </a:stretch>
        </p:blipFill>
        <p:spPr>
          <a:xfrm>
            <a:off x="914400" y="1682496"/>
            <a:ext cx="2274570" cy="1207008"/>
          </a:xfrm>
          <a:prstGeom prst="rect">
            <a:avLst/>
          </a:prstGeom>
        </p:spPr>
      </p:pic>
      <p:sp>
        <p:nvSpPr>
          <p:cNvPr id="860" name="TextBox 860"/>
          <p:cNvSpPr txBox="1"/>
          <p:nvPr/>
        </p:nvSpPr>
        <p:spPr>
          <a:xfrm>
            <a:off x="822960" y="2889504"/>
            <a:ext cx="2457450" cy="27432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ctr">
            <a:r>
              <a:rPr lang="zh-CN" sz="110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Maya</a:t>
            </a:r>
          </a:p>
        </p:txBody>
      </p:sp>
      <p:sp>
        <p:nvSpPr>
          <p:cNvPr id="801" name="RoundRect 801"/>
          <p:cNvSpPr/>
          <p:nvPr/>
        </p:nvSpPr>
        <p:spPr>
          <a:xfrm>
            <a:off x="3509010" y="1627632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51" name="Picture 851" descr="Blender"/>
          <p:cNvPicPr/>
          <p:nvPr/>
        </p:nvPicPr>
        <p:blipFill>
          <a:blip r:embed="R93af3b47aeea4880"/>
          <a:stretch>
            <a:fillRect/>
          </a:stretch>
        </p:blipFill>
        <p:spPr>
          <a:xfrm>
            <a:off x="3600450" y="1682496"/>
            <a:ext cx="2274570" cy="1207008"/>
          </a:xfrm>
          <a:prstGeom prst="rect">
            <a:avLst/>
          </a:prstGeom>
        </p:spPr>
      </p:pic>
      <p:sp>
        <p:nvSpPr>
          <p:cNvPr id="861" name="TextBox 861"/>
          <p:cNvSpPr txBox="1"/>
          <p:nvPr/>
        </p:nvSpPr>
        <p:spPr>
          <a:xfrm>
            <a:off x="3509010" y="2889504"/>
            <a:ext cx="2457450" cy="27432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ctr">
            <a:r>
              <a:rPr lang="zh-CN" sz="110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Blender</a:t>
            </a:r>
          </a:p>
        </p:txBody>
      </p:sp>
      <p:sp>
        <p:nvSpPr>
          <p:cNvPr id="802" name="RoundRect 802"/>
          <p:cNvSpPr/>
          <p:nvPr/>
        </p:nvSpPr>
        <p:spPr>
          <a:xfrm>
            <a:off x="6195060" y="1627632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52" name="Picture 852" descr="Houdini"/>
          <p:cNvPicPr/>
          <p:nvPr/>
        </p:nvPicPr>
        <p:blipFill>
          <a:blip r:embed="Rb859c849d17a4662"/>
          <a:stretch>
            <a:fillRect/>
          </a:stretch>
        </p:blipFill>
        <p:spPr>
          <a:xfrm>
            <a:off x="6286500" y="1682496"/>
            <a:ext cx="2274570" cy="1207008"/>
          </a:xfrm>
          <a:prstGeom prst="rect">
            <a:avLst/>
          </a:prstGeom>
        </p:spPr>
      </p:pic>
      <p:sp>
        <p:nvSpPr>
          <p:cNvPr id="862" name="TextBox 862"/>
          <p:cNvSpPr txBox="1"/>
          <p:nvPr/>
        </p:nvSpPr>
        <p:spPr>
          <a:xfrm>
            <a:off x="6195060" y="2889504"/>
            <a:ext cx="2457450" cy="27432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ctr">
            <a:r>
              <a:rPr lang="zh-CN" sz="110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Houdini</a:t>
            </a:r>
          </a:p>
        </p:txBody>
      </p:sp>
      <p:sp>
        <p:nvSpPr>
          <p:cNvPr id="803" name="RoundRect 803"/>
          <p:cNvSpPr/>
          <p:nvPr/>
        </p:nvSpPr>
        <p:spPr>
          <a:xfrm>
            <a:off x="8881110" y="1627632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53" name="Picture 853" descr="Photoshop"/>
          <p:cNvPicPr/>
          <p:nvPr/>
        </p:nvPicPr>
        <p:blipFill>
          <a:blip r:embed="Rdff779c5ccae487b"/>
          <a:stretch>
            <a:fillRect/>
          </a:stretch>
        </p:blipFill>
        <p:spPr>
          <a:xfrm>
            <a:off x="8972550" y="1682496"/>
            <a:ext cx="2274570" cy="1207008"/>
          </a:xfrm>
          <a:prstGeom prst="rect">
            <a:avLst/>
          </a:prstGeom>
        </p:spPr>
      </p:pic>
      <p:sp>
        <p:nvSpPr>
          <p:cNvPr id="863" name="TextBox 863"/>
          <p:cNvSpPr txBox="1"/>
          <p:nvPr/>
        </p:nvSpPr>
        <p:spPr>
          <a:xfrm>
            <a:off x="8881110" y="2889504"/>
            <a:ext cx="2457450" cy="27432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ctr">
            <a:r>
              <a:rPr lang="zh-CN" sz="110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Photoshop</a:t>
            </a:r>
          </a:p>
        </p:txBody>
      </p:sp>
      <p:sp>
        <p:nvSpPr>
          <p:cNvPr id="804" name="RoundRect 804"/>
          <p:cNvSpPr/>
          <p:nvPr/>
        </p:nvSpPr>
        <p:spPr>
          <a:xfrm>
            <a:off x="822960" y="3429000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54" name="Picture 854" descr="Unity"/>
          <p:cNvPicPr/>
          <p:nvPr/>
        </p:nvPicPr>
        <p:blipFill>
          <a:blip r:embed="Rce38400f077746df"/>
          <a:stretch>
            <a:fillRect/>
          </a:stretch>
        </p:blipFill>
        <p:spPr>
          <a:xfrm>
            <a:off x="914400" y="3483864"/>
            <a:ext cx="2274570" cy="1207008"/>
          </a:xfrm>
          <a:prstGeom prst="rect">
            <a:avLst/>
          </a:prstGeom>
        </p:spPr>
      </p:pic>
      <p:sp>
        <p:nvSpPr>
          <p:cNvPr id="864" name="TextBox 864"/>
          <p:cNvSpPr txBox="1"/>
          <p:nvPr/>
        </p:nvSpPr>
        <p:spPr>
          <a:xfrm>
            <a:off x="822960" y="4690872"/>
            <a:ext cx="2457450" cy="27432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ctr">
            <a:r>
              <a:rPr lang="zh-CN" sz="110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Unity</a:t>
            </a:r>
          </a:p>
        </p:txBody>
      </p:sp>
      <p:sp>
        <p:nvSpPr>
          <p:cNvPr id="805" name="RoundRect 805"/>
          <p:cNvSpPr/>
          <p:nvPr/>
        </p:nvSpPr>
        <p:spPr>
          <a:xfrm>
            <a:off x="3509010" y="3429000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55" name="Picture 855" descr="Unreal"/>
          <p:cNvPicPr/>
          <p:nvPr/>
        </p:nvPicPr>
        <p:blipFill>
          <a:blip r:embed="Rf67d1b4ae9c24f97"/>
          <a:stretch>
            <a:fillRect/>
          </a:stretch>
        </p:blipFill>
        <p:spPr>
          <a:xfrm>
            <a:off x="3600450" y="3483864"/>
            <a:ext cx="2274570" cy="1207008"/>
          </a:xfrm>
          <a:prstGeom prst="rect">
            <a:avLst/>
          </a:prstGeom>
        </p:spPr>
      </p:pic>
      <p:sp>
        <p:nvSpPr>
          <p:cNvPr id="865" name="TextBox 865"/>
          <p:cNvSpPr txBox="1"/>
          <p:nvPr/>
        </p:nvSpPr>
        <p:spPr>
          <a:xfrm>
            <a:off x="3509010" y="4690872"/>
            <a:ext cx="2457450" cy="27432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ctr">
            <a:r>
              <a:rPr lang="zh-CN" sz="110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Unreal</a:t>
            </a:r>
          </a:p>
        </p:txBody>
      </p:sp>
      <p:sp>
        <p:nvSpPr>
          <p:cNvPr id="806" name="RoundRect 806"/>
          <p:cNvSpPr/>
          <p:nvPr/>
        </p:nvSpPr>
        <p:spPr>
          <a:xfrm>
            <a:off x="6195060" y="3429000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56" name="Picture 856" descr="Nuke"/>
          <p:cNvPicPr/>
          <p:nvPr/>
        </p:nvPicPr>
        <p:blipFill>
          <a:blip r:embed="R5e1fbac6165c4680"/>
          <a:stretch>
            <a:fillRect/>
          </a:stretch>
        </p:blipFill>
        <p:spPr>
          <a:xfrm>
            <a:off x="6286500" y="3483864"/>
            <a:ext cx="2274570" cy="1207008"/>
          </a:xfrm>
          <a:prstGeom prst="rect">
            <a:avLst/>
          </a:prstGeom>
        </p:spPr>
      </p:pic>
      <p:sp>
        <p:nvSpPr>
          <p:cNvPr id="866" name="TextBox 866"/>
          <p:cNvSpPr txBox="1"/>
          <p:nvPr/>
        </p:nvSpPr>
        <p:spPr>
          <a:xfrm>
            <a:off x="6195060" y="4690872"/>
            <a:ext cx="2457450" cy="27432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ctr">
            <a:r>
              <a:rPr lang="zh-CN" sz="110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Nuke</a:t>
            </a:r>
          </a:p>
        </p:txBody>
      </p:sp>
      <p:sp>
        <p:nvSpPr>
          <p:cNvPr id="807" name="RoundRect 807"/>
          <p:cNvSpPr/>
          <p:nvPr/>
        </p:nvSpPr>
        <p:spPr>
          <a:xfrm>
            <a:off x="8881110" y="3429000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57" name="Picture 857" descr="3ds Max"/>
          <p:cNvPicPr/>
          <p:nvPr/>
        </p:nvPicPr>
        <p:blipFill>
          <a:blip r:embed="R73d6ae20f8b34e33"/>
          <a:stretch>
            <a:fillRect/>
          </a:stretch>
        </p:blipFill>
        <p:spPr>
          <a:xfrm>
            <a:off x="8972550" y="3483864"/>
            <a:ext cx="2274570" cy="1207008"/>
          </a:xfrm>
          <a:prstGeom prst="rect">
            <a:avLst/>
          </a:prstGeom>
        </p:spPr>
      </p:pic>
      <p:sp>
        <p:nvSpPr>
          <p:cNvPr id="867" name="TextBox 867"/>
          <p:cNvSpPr txBox="1"/>
          <p:nvPr/>
        </p:nvSpPr>
        <p:spPr>
          <a:xfrm>
            <a:off x="8881110" y="4690872"/>
            <a:ext cx="2457450" cy="27432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ctr">
            <a:r>
              <a:rPr lang="zh-CN" sz="110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3ds Max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ckground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9" name="GhostCircle 999"/>
          <p:cNvSpPr/>
          <p:nvPr/>
        </p:nvSpPr>
        <p:spPr>
          <a:xfrm>
            <a:off x="9601200" y="320040"/>
            <a:ext cx="2468880" cy="2468880"/>
          </a:xfrm>
          <a:prstGeom prst="ellipse">
            <a:avLst/>
          </a:prstGeom>
          <a:solidFill>
            <a:srgbClr val="22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640080" y="640080"/>
            <a:ext cx="4572000" cy="384048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20000" b="1">
                <a:solidFill>
                  <a:srgbClr val="223047"/>
                </a:solidFill>
                <a:latin typeface="Segoe UI"/>
                <a:ea typeface="Microsoft YaHei"/>
                <a:cs typeface="Segoe UI"/>
              </a:rPr>
              <a:t>02</a:t>
            </a:r>
          </a:p>
        </p:txBody>
      </p:sp>
      <p:sp>
        <p:nvSpPr>
          <p:cNvPr id="5" name="Background 5"/>
          <p:cNvSpPr/>
          <p:nvPr/>
        </p:nvSpPr>
        <p:spPr>
          <a:xfrm>
            <a:off x="822960" y="2788920"/>
            <a:ext cx="164592" cy="1097280"/>
          </a:xfrm>
          <a:prstGeom prst="rect">
            <a:avLst/>
          </a:prstGeom>
          <a:solidFill>
            <a:srgbClr val="7FC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1188720" y="2743200"/>
            <a:ext cx="10058400" cy="128016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44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语义图层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34440" y="4114800"/>
            <a:ext cx="9601200" cy="54864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50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原生 OOXML 标签 ::layer= 存活于 PowerPoint 往返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6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六个内置图层</a:t>
            </a:r>
          </a:p>
        </p:txBody>
      </p:sp>
      <p:sp>
        <p:nvSpPr>
          <p:cNvPr id="7" name="Background 7"/>
          <p:cNvSpPr/>
          <p:nvPr/>
        </p:nvSpPr>
        <p:spPr>
          <a:xfrm>
            <a:off x="822960" y="1298448"/>
            <a:ext cx="822960" cy="45720"/>
          </a:xfrm>
          <a:prstGeom prst="rect">
            <a:avLst/>
          </a:prstGeom>
          <a:solidFill>
            <a:srgbClr val="4D9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Oval 100"/>
          <p:cNvSpPr/>
          <p:nvPr/>
        </p:nvSpPr>
        <p:spPr>
          <a:xfrm>
            <a:off x="868680" y="1783080"/>
            <a:ext cx="164592" cy="164592"/>
          </a:xfrm>
          <a:prstGeom prst="ellipse">
            <a:avLst/>
          </a:prstGeom>
          <a:solidFill>
            <a:srgbClr val="7FC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1"/>
          <p:cNvSpPr txBox="1"/>
          <p:nvPr/>
        </p:nvSpPr>
        <p:spPr>
          <a:xfrm>
            <a:off x="1234440" y="1627632"/>
            <a:ext cx="9966960" cy="82296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background 整页背景 · decoration 幽灵圆/logo/分隔线</a:t>
            </a:r>
          </a:p>
        </p:txBody>
      </p:sp>
      <p:sp>
        <p:nvSpPr>
          <p:cNvPr id="102" name="Background 102"/>
          <p:cNvSpPr/>
          <p:nvPr/>
        </p:nvSpPr>
        <p:spPr>
          <a:xfrm>
            <a:off x="822960" y="2496312"/>
            <a:ext cx="10515600" cy="15545"/>
          </a:xfrm>
          <a:prstGeom prst="rect">
            <a:avLst/>
          </a:prstGeom>
          <a:solidFill>
            <a:srgbClr val="22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Oval 103"/>
          <p:cNvSpPr/>
          <p:nvPr/>
        </p:nvSpPr>
        <p:spPr>
          <a:xfrm>
            <a:off x="868680" y="2715768"/>
            <a:ext cx="164592" cy="164592"/>
          </a:xfrm>
          <a:prstGeom prst="ellipse">
            <a:avLst/>
          </a:prstGeom>
          <a:solidFill>
            <a:srgbClr val="7FC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4"/>
          <p:cNvSpPr txBox="1"/>
          <p:nvPr/>
        </p:nvSpPr>
        <p:spPr>
          <a:xfrm>
            <a:off x="1234440" y="2560320"/>
            <a:ext cx="9966960" cy="82296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header 标题栏 · content 要点/卡片/图片</a:t>
            </a:r>
          </a:p>
        </p:txBody>
      </p:sp>
      <p:sp>
        <p:nvSpPr>
          <p:cNvPr id="105" name="Background 105"/>
          <p:cNvSpPr/>
          <p:nvPr/>
        </p:nvSpPr>
        <p:spPr>
          <a:xfrm>
            <a:off x="822960" y="3429000"/>
            <a:ext cx="10515600" cy="15545"/>
          </a:xfrm>
          <a:prstGeom prst="rect">
            <a:avLst/>
          </a:prstGeom>
          <a:solidFill>
            <a:srgbClr val="22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Oval 106"/>
          <p:cNvSpPr/>
          <p:nvPr/>
        </p:nvSpPr>
        <p:spPr>
          <a:xfrm>
            <a:off x="868680" y="3648456"/>
            <a:ext cx="164592" cy="164592"/>
          </a:xfrm>
          <a:prstGeom prst="ellipse">
            <a:avLst/>
          </a:prstGeom>
          <a:solidFill>
            <a:srgbClr val="7FC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TextBox 107"/>
          <p:cNvSpPr txBox="1"/>
          <p:nvPr/>
        </p:nvSpPr>
        <p:spPr>
          <a:xfrm>
            <a:off x="1234440" y="3493008"/>
            <a:ext cx="9966960" cy="82296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accent 强调条/圆点/连接线 · footer 页脚/页码</a:t>
            </a:r>
          </a:p>
        </p:txBody>
      </p:sp>
      <p:sp>
        <p:nvSpPr>
          <p:cNvPr id="108" name="Background 108"/>
          <p:cNvSpPr/>
          <p:nvPr/>
        </p:nvSpPr>
        <p:spPr>
          <a:xfrm>
            <a:off x="822960" y="4361688"/>
            <a:ext cx="10515600" cy="15545"/>
          </a:xfrm>
          <a:prstGeom prst="rect">
            <a:avLst/>
          </a:prstGeom>
          <a:solidFill>
            <a:srgbClr val="22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Oval 109"/>
          <p:cNvSpPr/>
          <p:nvPr/>
        </p:nvSpPr>
        <p:spPr>
          <a:xfrm>
            <a:off x="868680" y="4581144"/>
            <a:ext cx="164592" cy="164592"/>
          </a:xfrm>
          <a:prstGeom prst="ellipse">
            <a:avLst/>
          </a:prstGeom>
          <a:solidFill>
            <a:srgbClr val="7FC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10"/>
          <p:cNvSpPr txBox="1"/>
          <p:nvPr/>
        </p:nvSpPr>
        <p:spPr>
          <a:xfrm>
            <a:off x="1234440" y="4425696"/>
            <a:ext cx="9966960" cy="82296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图层操作：显隐、z 序重排、重着色、形状归属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6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图层操作面</a:t>
            </a:r>
          </a:p>
        </p:txBody>
      </p:sp>
      <p:sp>
        <p:nvSpPr>
          <p:cNvPr id="7" name="Background 7"/>
          <p:cNvSpPr/>
          <p:nvPr/>
        </p:nvSpPr>
        <p:spPr>
          <a:xfrm>
            <a:off x="822960" y="1298448"/>
            <a:ext cx="822960" cy="45720"/>
          </a:xfrm>
          <a:prstGeom prst="rect">
            <a:avLst/>
          </a:prstGeom>
          <a:solidFill>
            <a:srgbClr val="4D9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0" name="RoundRect 400"/>
          <p:cNvSpPr/>
          <p:nvPr/>
        </p:nvSpPr>
        <p:spPr>
          <a:xfrm>
            <a:off x="822960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ctr">
            <a:r>
              <a:rPr lang="zh-CN" sz="260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1</a:t>
            </a:r>
          </a:p>
          <a:p algn="ctr">
            <a:r>
              <a:rPr lang="zh-CN" sz="260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layer_list 清点</a:t>
            </a:r>
          </a:p>
        </p:txBody>
      </p:sp>
      <p:sp>
        <p:nvSpPr>
          <p:cNvPr id="430" name="Background 430"/>
          <p:cNvSpPr/>
          <p:nvPr/>
        </p:nvSpPr>
        <p:spPr>
          <a:xfrm>
            <a:off x="1188720" y="1627632"/>
            <a:ext cx="502920" cy="50292"/>
          </a:xfrm>
          <a:prstGeom prst="rect">
            <a:avLst/>
          </a:prstGeom>
          <a:solidFill>
            <a:srgbClr val="7FC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1" name="RoundRect 401"/>
          <p:cNvSpPr/>
          <p:nvPr/>
        </p:nvSpPr>
        <p:spPr>
          <a:xfrm>
            <a:off x="4389120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ctr">
            <a:r>
              <a:rPr lang="zh-CN" sz="260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2</a:t>
            </a:r>
          </a:p>
          <a:p algn="ctr">
            <a:r>
              <a:rPr lang="zh-CN" sz="260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set_visibility 显隐</a:t>
            </a:r>
          </a:p>
        </p:txBody>
      </p:sp>
      <p:sp>
        <p:nvSpPr>
          <p:cNvPr id="431" name="Background 431"/>
          <p:cNvSpPr/>
          <p:nvPr/>
        </p:nvSpPr>
        <p:spPr>
          <a:xfrm>
            <a:off x="4754880" y="1627632"/>
            <a:ext cx="502920" cy="50292"/>
          </a:xfrm>
          <a:prstGeom prst="rect">
            <a:avLst/>
          </a:prstGeom>
          <a:solidFill>
            <a:srgbClr val="7FC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2" name="RoundRect 402"/>
          <p:cNvSpPr/>
          <p:nvPr/>
        </p:nvSpPr>
        <p:spPr>
          <a:xfrm>
            <a:off x="7955280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ctr">
            <a:r>
              <a:rPr lang="zh-CN" sz="260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3</a:t>
            </a:r>
          </a:p>
          <a:p algn="ctr">
            <a:r>
              <a:rPr lang="zh-CN" sz="260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reorder 前后/上下</a:t>
            </a:r>
          </a:p>
        </p:txBody>
      </p:sp>
      <p:sp>
        <p:nvSpPr>
          <p:cNvPr id="432" name="Background 432"/>
          <p:cNvSpPr/>
          <p:nvPr/>
        </p:nvSpPr>
        <p:spPr>
          <a:xfrm>
            <a:off x="8321040" y="1627632"/>
            <a:ext cx="502920" cy="50292"/>
          </a:xfrm>
          <a:prstGeom prst="rect">
            <a:avLst/>
          </a:prstGeom>
          <a:solidFill>
            <a:srgbClr val="7FC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3" name="RoundRect 403"/>
          <p:cNvSpPr/>
          <p:nvPr/>
        </p:nvSpPr>
        <p:spPr>
          <a:xfrm>
            <a:off x="822960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ctr">
            <a:r>
              <a:rPr lang="zh-CN" sz="260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4</a:t>
            </a:r>
          </a:p>
          <a:p algn="ctr">
            <a:r>
              <a:rPr lang="zh-CN" sz="260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recolor 重着色</a:t>
            </a:r>
          </a:p>
        </p:txBody>
      </p:sp>
      <p:sp>
        <p:nvSpPr>
          <p:cNvPr id="433" name="Background 433"/>
          <p:cNvSpPr/>
          <p:nvPr/>
        </p:nvSpPr>
        <p:spPr>
          <a:xfrm>
            <a:off x="1188720" y="3547872"/>
            <a:ext cx="502920" cy="50292"/>
          </a:xfrm>
          <a:prstGeom prst="rect">
            <a:avLst/>
          </a:prstGeom>
          <a:solidFill>
            <a:srgbClr val="7FC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4" name="RoundRect 404"/>
          <p:cNvSpPr/>
          <p:nvPr/>
        </p:nvSpPr>
        <p:spPr>
          <a:xfrm>
            <a:off x="4389120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ctr">
            <a:r>
              <a:rPr lang="zh-CN" sz="260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5</a:t>
            </a:r>
          </a:p>
          <a:p algn="ctr">
            <a:r>
              <a:rPr lang="zh-CN" sz="260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assign 归属</a:t>
            </a:r>
          </a:p>
        </p:txBody>
      </p:sp>
      <p:sp>
        <p:nvSpPr>
          <p:cNvPr id="434" name="Background 434"/>
          <p:cNvSpPr/>
          <p:nvPr/>
        </p:nvSpPr>
        <p:spPr>
          <a:xfrm>
            <a:off x="4754880" y="3547872"/>
            <a:ext cx="502920" cy="50292"/>
          </a:xfrm>
          <a:prstGeom prst="rect">
            <a:avLst/>
          </a:prstGeom>
          <a:solidFill>
            <a:srgbClr val="7FC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5" name="RoundRect 405"/>
          <p:cNvSpPr/>
          <p:nvPr/>
        </p:nvSpPr>
        <p:spPr>
          <a:xfrm>
            <a:off x="7955280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 algn="ctr">
            <a:r>
              <a:rPr lang="zh-CN" sz="260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6</a:t>
            </a:r>
          </a:p>
          <a:p algn="ctr">
            <a:r>
              <a:rPr lang="zh-CN" sz="260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按幻灯片范围</a:t>
            </a:r>
          </a:p>
        </p:txBody>
      </p:sp>
      <p:sp>
        <p:nvSpPr>
          <p:cNvPr id="435" name="Background 435"/>
          <p:cNvSpPr/>
          <p:nvPr/>
        </p:nvSpPr>
        <p:spPr>
          <a:xfrm>
            <a:off x="8321040" y="3547872"/>
            <a:ext cx="502920" cy="50292"/>
          </a:xfrm>
          <a:prstGeom prst="rect">
            <a:avLst/>
          </a:prstGeom>
          <a:solidFill>
            <a:srgbClr val="7FC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ckground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9" name="GhostCircle 999"/>
          <p:cNvSpPr/>
          <p:nvPr/>
        </p:nvSpPr>
        <p:spPr>
          <a:xfrm>
            <a:off x="9601200" y="320040"/>
            <a:ext cx="2468880" cy="2468880"/>
          </a:xfrm>
          <a:prstGeom prst="ellipse">
            <a:avLst/>
          </a:prstGeom>
          <a:solidFill>
            <a:srgbClr val="22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640080" y="640080"/>
            <a:ext cx="4572000" cy="384048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20000" b="1">
                <a:solidFill>
                  <a:srgbClr val="223047"/>
                </a:solidFill>
                <a:latin typeface="Segoe UI"/>
                <a:ea typeface="Microsoft YaHei"/>
                <a:cs typeface="Segoe UI"/>
              </a:rPr>
              <a:t>03</a:t>
            </a:r>
          </a:p>
        </p:txBody>
      </p:sp>
      <p:sp>
        <p:nvSpPr>
          <p:cNvPr id="5" name="Background 5"/>
          <p:cNvSpPr/>
          <p:nvPr/>
        </p:nvSpPr>
        <p:spPr>
          <a:xfrm>
            <a:off x="822960" y="2788920"/>
            <a:ext cx="164592" cy="1097280"/>
          </a:xfrm>
          <a:prstGeom prst="rect">
            <a:avLst/>
          </a:prstGeom>
          <a:solidFill>
            <a:srgbClr val="7FC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1188720" y="2743200"/>
            <a:ext cx="10058400" cy="128016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44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补丁引擎与插件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34440" y="4114800"/>
            <a:ext cx="9601200" cy="54864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50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ppt-patch/1.0 全有或全无 · plugin.json 隔离子进程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6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补丁操作面</a:t>
            </a:r>
          </a:p>
        </p:txBody>
      </p:sp>
      <p:sp>
        <p:nvSpPr>
          <p:cNvPr id="7" name="Background 7"/>
          <p:cNvSpPr/>
          <p:nvPr/>
        </p:nvSpPr>
        <p:spPr>
          <a:xfrm>
            <a:off x="822960" y="1298448"/>
            <a:ext cx="822960" cy="45720"/>
          </a:xfrm>
          <a:prstGeom prst="rect">
            <a:avLst/>
          </a:prstGeom>
          <a:solidFill>
            <a:srgbClr val="4D9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Oval 100"/>
          <p:cNvSpPr/>
          <p:nvPr/>
        </p:nvSpPr>
        <p:spPr>
          <a:xfrm>
            <a:off x="868680" y="1783080"/>
            <a:ext cx="164592" cy="164592"/>
          </a:xfrm>
          <a:prstGeom prst="ellipse">
            <a:avLst/>
          </a:prstGeom>
          <a:solidFill>
            <a:srgbClr val="7FC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1"/>
          <p:cNvSpPr txBox="1"/>
          <p:nvPr/>
        </p:nvSpPr>
        <p:spPr>
          <a:xfrm>
            <a:off x="1234440" y="1627632"/>
            <a:ext cx="9966960" cy="82296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set_text / set_notes：文本与备注替换</a:t>
            </a:r>
          </a:p>
        </p:txBody>
      </p:sp>
      <p:sp>
        <p:nvSpPr>
          <p:cNvPr id="102" name="Background 102"/>
          <p:cNvSpPr/>
          <p:nvPr/>
        </p:nvSpPr>
        <p:spPr>
          <a:xfrm>
            <a:off x="822960" y="2496312"/>
            <a:ext cx="10515600" cy="15545"/>
          </a:xfrm>
          <a:prstGeom prst="rect">
            <a:avLst/>
          </a:prstGeom>
          <a:solidFill>
            <a:srgbClr val="22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Oval 103"/>
          <p:cNvSpPr/>
          <p:nvPr/>
        </p:nvSpPr>
        <p:spPr>
          <a:xfrm>
            <a:off x="868680" y="2715768"/>
            <a:ext cx="164592" cy="164592"/>
          </a:xfrm>
          <a:prstGeom prst="ellipse">
            <a:avLst/>
          </a:prstGeom>
          <a:solidFill>
            <a:srgbClr val="7FC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4"/>
          <p:cNvSpPr txBox="1"/>
          <p:nvPr/>
        </p:nvSpPr>
        <p:spPr>
          <a:xfrm>
            <a:off x="1234440" y="2560320"/>
            <a:ext cx="9966960" cy="82296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set_image / set_shape_fill / set_shape_line：媒体与样式</a:t>
            </a:r>
          </a:p>
        </p:txBody>
      </p:sp>
      <p:sp>
        <p:nvSpPr>
          <p:cNvPr id="105" name="Background 105"/>
          <p:cNvSpPr/>
          <p:nvPr/>
        </p:nvSpPr>
        <p:spPr>
          <a:xfrm>
            <a:off x="822960" y="3429000"/>
            <a:ext cx="10515600" cy="15545"/>
          </a:xfrm>
          <a:prstGeom prst="rect">
            <a:avLst/>
          </a:prstGeom>
          <a:solidFill>
            <a:srgbClr val="22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Oval 106"/>
          <p:cNvSpPr/>
          <p:nvPr/>
        </p:nvSpPr>
        <p:spPr>
          <a:xfrm>
            <a:off x="868680" y="3648456"/>
            <a:ext cx="164592" cy="164592"/>
          </a:xfrm>
          <a:prstGeom prst="ellipse">
            <a:avLst/>
          </a:prstGeom>
          <a:solidFill>
            <a:srgbClr val="7FC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TextBox 107"/>
          <p:cNvSpPr txBox="1"/>
          <p:nvPr/>
        </p:nvSpPr>
        <p:spPr>
          <a:xfrm>
            <a:off x="1234440" y="3493008"/>
            <a:ext cx="9966960" cy="82296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set_shape_visible / delete_shape：显隐与删除</a:t>
            </a:r>
          </a:p>
        </p:txBody>
      </p:sp>
      <p:sp>
        <p:nvSpPr>
          <p:cNvPr id="108" name="Background 108"/>
          <p:cNvSpPr/>
          <p:nvPr/>
        </p:nvSpPr>
        <p:spPr>
          <a:xfrm>
            <a:off x="822960" y="4361688"/>
            <a:ext cx="10515600" cy="15545"/>
          </a:xfrm>
          <a:prstGeom prst="rect">
            <a:avLst/>
          </a:prstGeom>
          <a:solidFill>
            <a:srgbClr val="22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Oval 109"/>
          <p:cNvSpPr/>
          <p:nvPr/>
        </p:nvSpPr>
        <p:spPr>
          <a:xfrm>
            <a:off x="868680" y="4581144"/>
            <a:ext cx="164592" cy="164592"/>
          </a:xfrm>
          <a:prstGeom prst="ellipse">
            <a:avLst/>
          </a:prstGeom>
          <a:solidFill>
            <a:srgbClr val="7FC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10"/>
          <p:cNvSpPr txBox="1"/>
          <p:nvPr/>
        </p:nvSpPr>
        <p:spPr>
          <a:xfrm>
            <a:off x="1234440" y="4425696"/>
            <a:ext cx="9966960" cy="82296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add_slide / delete_slide / move_slide：页面结构</a:t>
            </a:r>
          </a:p>
        </p:txBody>
      </p:sp>
      <p:sp>
        <p:nvSpPr>
          <p:cNvPr id="111" name="Background 111"/>
          <p:cNvSpPr/>
          <p:nvPr/>
        </p:nvSpPr>
        <p:spPr>
          <a:xfrm>
            <a:off x="822960" y="5294376"/>
            <a:ext cx="10515600" cy="15545"/>
          </a:xfrm>
          <a:prstGeom prst="rect">
            <a:avLst/>
          </a:prstGeom>
          <a:solidFill>
            <a:srgbClr val="22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Oval 112"/>
          <p:cNvSpPr/>
          <p:nvPr/>
        </p:nvSpPr>
        <p:spPr>
          <a:xfrm>
            <a:off x="868680" y="5513832"/>
            <a:ext cx="164592" cy="164592"/>
          </a:xfrm>
          <a:prstGeom prst="ellipse">
            <a:avLst/>
          </a:prstGeom>
          <a:solidFill>
            <a:srgbClr val="7FC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TextBox 113"/>
          <p:cNvSpPr txBox="1"/>
          <p:nvPr/>
        </p:nvSpPr>
        <p:spPr>
          <a:xfrm>
            <a:off x="1234440" y="5358384"/>
            <a:ext cx="9966960" cy="82296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assign_layer：形状归属图层</a:t>
            </a:r>
          </a:p>
        </p:txBody>
      </p:sp>
      <p:sp>
        <p:nvSpPr>
          <p:cNvPr id="114" name="Background 114"/>
          <p:cNvSpPr/>
          <p:nvPr/>
        </p:nvSpPr>
        <p:spPr>
          <a:xfrm>
            <a:off x="822960" y="6227064"/>
            <a:ext cx="10515600" cy="15545"/>
          </a:xfrm>
          <a:prstGeom prst="rect">
            <a:avLst/>
          </a:prstGeom>
          <a:solidFill>
            <a:srgbClr val="22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Oval 115"/>
          <p:cNvSpPr/>
          <p:nvPr/>
        </p:nvSpPr>
        <p:spPr>
          <a:xfrm>
            <a:off x="868680" y="6446520"/>
            <a:ext cx="164592" cy="164592"/>
          </a:xfrm>
          <a:prstGeom prst="ellipse">
            <a:avLst/>
          </a:prstGeom>
          <a:solidFill>
            <a:srgbClr val="7FC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TextBox 116"/>
          <p:cNvSpPr txBox="1"/>
          <p:nvPr/>
        </p:nvSpPr>
        <p:spPr>
          <a:xfrm>
            <a:off x="1234440" y="6291072"/>
            <a:ext cx="9966960" cy="82296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选择器无坐标：slide + layer + shape + id + index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6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插件注册表</a:t>
            </a:r>
          </a:p>
        </p:txBody>
      </p:sp>
      <p:sp>
        <p:nvSpPr>
          <p:cNvPr id="7" name="Background 7"/>
          <p:cNvSpPr/>
          <p:nvPr/>
        </p:nvSpPr>
        <p:spPr>
          <a:xfrm>
            <a:off x="822960" y="1298448"/>
            <a:ext cx="822960" cy="45720"/>
          </a:xfrm>
          <a:prstGeom prst="rect">
            <a:avLst/>
          </a:prstGeom>
          <a:solidFill>
            <a:srgbClr val="4D9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Oval 100"/>
          <p:cNvSpPr/>
          <p:nvPr/>
        </p:nvSpPr>
        <p:spPr>
          <a:xfrm>
            <a:off x="868680" y="1783080"/>
            <a:ext cx="164592" cy="164592"/>
          </a:xfrm>
          <a:prstGeom prst="ellipse">
            <a:avLst/>
          </a:prstGeom>
          <a:solidFill>
            <a:srgbClr val="7FC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1"/>
          <p:cNvSpPr txBox="1"/>
          <p:nvPr/>
        </p:nvSpPr>
        <p:spPr>
          <a:xfrm>
            <a:off x="1234440" y="1627632"/>
            <a:ext cx="9966960" cy="82296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plugin.json 契约：name/version/script/interpreter/schema</a:t>
            </a:r>
          </a:p>
        </p:txBody>
      </p:sp>
      <p:sp>
        <p:nvSpPr>
          <p:cNvPr id="102" name="Background 102"/>
          <p:cNvSpPr/>
          <p:nvPr/>
        </p:nvSpPr>
        <p:spPr>
          <a:xfrm>
            <a:off x="822960" y="2496312"/>
            <a:ext cx="10515600" cy="15545"/>
          </a:xfrm>
          <a:prstGeom prst="rect">
            <a:avLst/>
          </a:prstGeom>
          <a:solidFill>
            <a:srgbClr val="22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Oval 103"/>
          <p:cNvSpPr/>
          <p:nvPr/>
        </p:nvSpPr>
        <p:spPr>
          <a:xfrm>
            <a:off x="868680" y="2715768"/>
            <a:ext cx="164592" cy="164592"/>
          </a:xfrm>
          <a:prstGeom prst="ellipse">
            <a:avLst/>
          </a:prstGeom>
          <a:solidFill>
            <a:srgbClr val="7FC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4"/>
          <p:cNvSpPr txBox="1"/>
          <p:nvPr/>
        </p:nvSpPr>
        <p:spPr>
          <a:xfrm>
            <a:off x="1234440" y="2560320"/>
            <a:ext cx="9966960" cy="82296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显式发现根：DCC_POWERPOINT_PLUGIN_PATH + 用户目录</a:t>
            </a:r>
          </a:p>
        </p:txBody>
      </p:sp>
      <p:sp>
        <p:nvSpPr>
          <p:cNvPr id="105" name="Background 105"/>
          <p:cNvSpPr/>
          <p:nvPr/>
        </p:nvSpPr>
        <p:spPr>
          <a:xfrm>
            <a:off x="822960" y="3429000"/>
            <a:ext cx="10515600" cy="15545"/>
          </a:xfrm>
          <a:prstGeom prst="rect">
            <a:avLst/>
          </a:prstGeom>
          <a:solidFill>
            <a:srgbClr val="22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Oval 106"/>
          <p:cNvSpPr/>
          <p:nvPr/>
        </p:nvSpPr>
        <p:spPr>
          <a:xfrm>
            <a:off x="868680" y="3648456"/>
            <a:ext cx="164592" cy="164592"/>
          </a:xfrm>
          <a:prstGeom prst="ellipse">
            <a:avLst/>
          </a:prstGeom>
          <a:solidFill>
            <a:srgbClr val="7FC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TextBox 107"/>
          <p:cNvSpPr txBox="1"/>
          <p:nvPr/>
        </p:nvSpPr>
        <p:spPr>
          <a:xfrm>
            <a:off x="1234440" y="3493008"/>
            <a:ext cx="9966960" cy="82296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隔离子进程：stdin JSON → stdout 单 JSON 结果</a:t>
            </a:r>
          </a:p>
        </p:txBody>
      </p:sp>
      <p:sp>
        <p:nvSpPr>
          <p:cNvPr id="108" name="Background 108"/>
          <p:cNvSpPr/>
          <p:nvPr/>
        </p:nvSpPr>
        <p:spPr>
          <a:xfrm>
            <a:off x="822960" y="4361688"/>
            <a:ext cx="10515600" cy="15545"/>
          </a:xfrm>
          <a:prstGeom prst="rect">
            <a:avLst/>
          </a:prstGeom>
          <a:solidFill>
            <a:srgbClr val="22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Oval 109"/>
          <p:cNvSpPr/>
          <p:nvPr/>
        </p:nvSpPr>
        <p:spPr>
          <a:xfrm>
            <a:off x="868680" y="4581144"/>
            <a:ext cx="164592" cy="164592"/>
          </a:xfrm>
          <a:prstGeom prst="ellipse">
            <a:avLst/>
          </a:prstGeom>
          <a:solidFill>
            <a:srgbClr val="7FC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10"/>
          <p:cNvSpPr txBox="1"/>
          <p:nvPr/>
        </p:nvSpPr>
        <p:spPr>
          <a:xfrm>
            <a:off x="1234440" y="4425696"/>
            <a:ext cx="9966960" cy="82296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5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永不自动下载、永不 import 插件代码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ckground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9" name="GhostCircle 999"/>
          <p:cNvSpPr/>
          <p:nvPr/>
        </p:nvSpPr>
        <p:spPr>
          <a:xfrm>
            <a:off x="320040" y="320040"/>
            <a:ext cx="2651760" cy="2651760"/>
          </a:xfrm>
          <a:prstGeom prst="ellipse">
            <a:avLst/>
          </a:prstGeom>
          <a:solidFill>
            <a:srgbClr val="22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4" descr="DCC-MCP logo"/>
          <p:cNvPicPr/>
          <p:nvPr/>
        </p:nvPicPr>
        <p:blipFill>
          <a:blip r:embed="Rc293220e17684fdc"/>
          <a:stretch>
            <a:fillRect/>
          </a:stretch>
        </p:blipFill>
        <p:spPr>
          <a:xfrm>
            <a:off x="5413248" y="1965960"/>
            <a:ext cx="1300277" cy="73152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371600" y="3063240"/>
            <a:ext cx="9418320" cy="109728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ctr">
            <a:r>
              <a:rPr lang="zh-CN" sz="46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Thanks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71600" y="4343400"/>
            <a:ext cx="9418320" cy="64008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ctr">
            <a:r>
              <a:rPr lang="zh-CN" sz="160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· 让 AI 做高品质幻灯片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