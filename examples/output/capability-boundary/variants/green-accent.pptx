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开场：本 Deck 自己演示自己的能力边界——从 Deck IR 生成，再用图层、补丁和插件二次加工。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第一部分：生成管线如何把结构化内容变成可编辑的 PPTX。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四步管线，每步都有契约和验证。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五层结构：契约、编译、渲染、验证、生成后能力面。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能力边界用数字说话。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编译与渲染解耦：Open XML 负责结构，COM 负责保真。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左边是工程原则，右边是本仓库与上游的分工。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五步旅程，本 Deck 完整走过。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图左文右布局直接复用管线内真实渲染图。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个 logo 卡片网格，卡片图统一归一化。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第二部分：语义图层系统——显隐、层级、重着色、归属。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编译器保证六个图层标签，任何生成 Deck 都可按层操作。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图层能力全清单，本分支演示脚本逐项验证。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第三部分：结构化补丁与插件注册表。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种操作，任何失败即整体回滚，输入文件绝不半改。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插件是用户安装的代码，注册表只发现、校验、隔离子进程执行。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收尾：能力边界持续迭代，缺陷上游修复闭环。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281160" y="4434840"/>
            <a:ext cx="2788920" cy="228600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685800"/>
            <a:ext cx="1234440" cy="54864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2651760"/>
            <a:ext cx="941832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5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7" name="Rectangle 6 ::layer=accent"/>
          <p:cNvSpPr/>
          <p:nvPr/>
        </p:nvSpPr>
        <p:spPr>
          <a:xfrm>
            <a:off x="5687568" y="3977639"/>
            <a:ext cx="82296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 ::layer=header"/>
          <p:cNvSpPr txBox="1"/>
          <p:nvPr/>
        </p:nvSpPr>
        <p:spPr>
          <a:xfrm>
            <a:off x="1371600" y="4251960"/>
            <a:ext cx="9418320" cy="9144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生成管线 × 语义图层 × 补丁引擎 × 插件注册表</a:t>
            </a:r>
          </a:p>
          <a:p>
            <a:pPr algn="ctr"/>
            <a:r>
              <a:rPr sz="18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种语义布局 · 6 个内置图层 · 12 种补丁操作 · 全链路验证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371600" y="6263640"/>
            <a:ext cx="9418320" cy="3200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 · draft:capability-boundary-showcase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1" name="TextBox 10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Deck IR → Open XML 编译 → COM 渲染 → 结构验证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生成管线四步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 契约（office-ir/1.0）：语义布局 + 内容块，绝不手写坐标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编译器：11 种布局注册表，一键扩展，不碰分发逻辑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桌面 COM 渲染：PDF + 逐页 PNG（DispatchEx 专用实例）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结构验证：信封契约 + 产物存在性 + 溢出与对比度检查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架构分层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2148840" y="1819656"/>
            <a:ext cx="384048" cy="384048"/>
          </a:xfrm>
          <a:prstGeom prst="ellipse">
            <a:avLst/>
          </a:prstGeom>
          <a:solidFill>
            <a:srgbClr val="7FC8A9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2788920" y="167335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IR：镜像 dcc-mcp-office-ir 演示文稿 schema</a:t>
            </a:r>
          </a:p>
        </p:txBody>
      </p:sp>
      <p:sp>
        <p:nvSpPr>
          <p:cNvPr id="7" name="Oval 6 ::layer=accent"/>
          <p:cNvSpPr/>
          <p:nvPr/>
        </p:nvSpPr>
        <p:spPr>
          <a:xfrm>
            <a:off x="2148840" y="2688336"/>
            <a:ext cx="384048" cy="384048"/>
          </a:xfrm>
          <a:prstGeom prst="ellipse">
            <a:avLst/>
          </a:prstGeom>
          <a:solidFill>
            <a:srgbClr val="7FC8A9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2788920" y="254203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DeckCompiler：语义布局注册表 → python-pptx Open XML</a:t>
            </a:r>
          </a:p>
        </p:txBody>
      </p:sp>
      <p:sp>
        <p:nvSpPr>
          <p:cNvPr id="9" name="Oval 8 ::layer=accent"/>
          <p:cNvSpPr/>
          <p:nvPr/>
        </p:nvSpPr>
        <p:spPr>
          <a:xfrm>
            <a:off x="2148840" y="3557016"/>
            <a:ext cx="384048" cy="384048"/>
          </a:xfrm>
          <a:prstGeom prst="ellipse">
            <a:avLst/>
          </a:prstGeom>
          <a:solidFill>
            <a:srgbClr val="7FC8A9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0" name="Rounded Rectangle 9 ::layer=content"/>
          <p:cNvSpPr/>
          <p:nvPr/>
        </p:nvSpPr>
        <p:spPr>
          <a:xfrm>
            <a:off x="2788920" y="341071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Renderer：PowerPoint COM → PDF / PNG 预览</a:t>
            </a:r>
          </a:p>
        </p:txBody>
      </p:sp>
      <p:sp>
        <p:nvSpPr>
          <p:cNvPr id="11" name="Oval 10 ::layer=accent"/>
          <p:cNvSpPr/>
          <p:nvPr/>
        </p:nvSpPr>
        <p:spPr>
          <a:xfrm>
            <a:off x="2148840" y="4425696"/>
            <a:ext cx="384048" cy="384048"/>
          </a:xfrm>
          <a:prstGeom prst="ellipse">
            <a:avLst/>
          </a:prstGeom>
          <a:solidFill>
            <a:srgbClr val="7FC8A9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2" name="Rounded Rectangle 11 ::layer=content"/>
          <p:cNvSpPr/>
          <p:nvPr/>
        </p:nvSpPr>
        <p:spPr>
          <a:xfrm>
            <a:off x="2788920" y="427939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Validate + Analyze：结构与视觉问题诊断</a:t>
            </a:r>
          </a:p>
        </p:txBody>
      </p:sp>
      <p:sp>
        <p:nvSpPr>
          <p:cNvPr id="13" name="Oval 12 ::layer=accent"/>
          <p:cNvSpPr/>
          <p:nvPr/>
        </p:nvSpPr>
        <p:spPr>
          <a:xfrm>
            <a:off x="2148840" y="5294376"/>
            <a:ext cx="384048" cy="384048"/>
          </a:xfrm>
          <a:prstGeom prst="ellipse">
            <a:avLst/>
          </a:prstGeom>
          <a:solidFill>
            <a:srgbClr val="7FC8A9"/>
          </a:solidFill>
          <a:ln w="15240">
            <a:solidFill>
              <a:srgbClr val="4D9D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4D9DE0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2788920" y="5148072"/>
            <a:ext cx="8412480" cy="713232"/>
          </a:xfrm>
          <a:prstGeom prst="roundRect">
            <a:avLst>
              <a:gd name="adj" fmla="val 10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Layers / Edits / Plugins：生成后能力面（本分支新增）</a:t>
            </a:r>
          </a:p>
        </p:txBody>
      </p:sp>
      <p:cxnSp>
        <p:nvCxnSpPr>
          <p:cNvPr id="15" name="Connector 14 ::layer=accent"/>
          <p:cNvCxnSpPr/>
          <p:nvPr/>
        </p:nvCxnSpPr>
        <p:spPr>
          <a:xfrm>
            <a:off x="2340864" y="2194560"/>
            <a:ext cx="0" cy="3474719"/>
          </a:xfrm>
          <a:prstGeom prst="line">
            <a:avLst/>
          </a:prstGeom>
          <a:ln>
            <a:solidFill>
              <a:srgbClr val="4D9D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能力数字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语义布局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内置图层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补丁操作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技能包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渲染产物（PDF/PNG）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0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运行时第三方依赖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双后端对比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Open XML 后端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无 Office 环境可编译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结构确定性、可版本管理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毫秒级生成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COM 渲染后端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PDF 矢量导出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逐页 PNG 预览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Office 缺席时显式降级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设计取舍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header"/>
          <p:cNvSpPr/>
          <p:nvPr/>
        </p:nvSpPr>
        <p:spPr>
          <a:xfrm>
            <a:off x="8229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4D9D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结构化优先</a:t>
            </a:r>
          </a:p>
        </p:txBody>
      </p:sp>
      <p:sp>
        <p:nvSpPr>
          <p:cNvPr id="6" name="Rounded Rectangle 5 ::layer=content"/>
          <p:cNvSpPr/>
          <p:nvPr/>
        </p:nvSpPr>
        <p:spPr>
          <a:xfrm>
            <a:off x="8229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语义布局而非坐标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契约先行、验证兜底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写操作不静默降级</a:t>
            </a:r>
          </a:p>
        </p:txBody>
      </p:sp>
      <p:sp>
        <p:nvSpPr>
          <p:cNvPr id="7" name="Rounded Rectangle 6 ::layer=header"/>
          <p:cNvSpPr/>
          <p:nvPr/>
        </p:nvSpPr>
        <p:spPr>
          <a:xfrm>
            <a:off x="6309360" y="1627632"/>
            <a:ext cx="5120640" cy="566928"/>
          </a:xfrm>
          <a:prstGeom prst="roundRect">
            <a:avLst>
              <a:gd name="adj" fmla="val 16000"/>
            </a:avLst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能力边界内自研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6309360" y="2304288"/>
            <a:ext cx="5120640" cy="3749039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C# 宿主承重（COM/OpenXML）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越界能力回上游 dcc-mcp-office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✓  缺陷修复优先提 PR 上游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一次调用的旅程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 ::layer=accent"/>
          <p:cNvSpPr/>
          <p:nvPr/>
        </p:nvSpPr>
        <p:spPr>
          <a:xfrm>
            <a:off x="822960" y="3246120"/>
            <a:ext cx="10515600" cy="381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 ::layer=accent"/>
          <p:cNvSpPr/>
          <p:nvPr/>
        </p:nvSpPr>
        <p:spPr>
          <a:xfrm>
            <a:off x="1719071" y="3090672"/>
            <a:ext cx="310896" cy="310896"/>
          </a:xfrm>
          <a:prstGeom prst="ellipse">
            <a:avLst/>
          </a:prstGeom>
          <a:solidFill>
            <a:srgbClr val="7FC8A9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960120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叙述规划</a:t>
            </a:r>
          </a:p>
        </p:txBody>
      </p:sp>
      <p:sp>
        <p:nvSpPr>
          <p:cNvPr id="8" name="Oval 7 ::layer=accent"/>
          <p:cNvSpPr/>
          <p:nvPr/>
        </p:nvSpPr>
        <p:spPr>
          <a:xfrm>
            <a:off x="3822191" y="3090672"/>
            <a:ext cx="310896" cy="310896"/>
          </a:xfrm>
          <a:prstGeom prst="ellipse">
            <a:avLst/>
          </a:prstGeom>
          <a:solidFill>
            <a:srgbClr val="7FC8A9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9" name="TextBox 8 ::layer=content"/>
          <p:cNvSpPr txBox="1"/>
          <p:nvPr/>
        </p:nvSpPr>
        <p:spPr>
          <a:xfrm>
            <a:off x="306324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Deck IR</a:t>
            </a:r>
          </a:p>
        </p:txBody>
      </p:sp>
      <p:sp>
        <p:nvSpPr>
          <p:cNvPr id="10" name="Oval 9 ::layer=accent"/>
          <p:cNvSpPr/>
          <p:nvPr/>
        </p:nvSpPr>
        <p:spPr>
          <a:xfrm>
            <a:off x="5925312" y="3090672"/>
            <a:ext cx="310896" cy="310896"/>
          </a:xfrm>
          <a:prstGeom prst="ellipse">
            <a:avLst/>
          </a:prstGeom>
          <a:solidFill>
            <a:srgbClr val="7FC8A9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1" name="TextBox 10 ::layer=content"/>
          <p:cNvSpPr txBox="1"/>
          <p:nvPr/>
        </p:nvSpPr>
        <p:spPr>
          <a:xfrm>
            <a:off x="516636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编译</a:t>
            </a:r>
          </a:p>
        </p:txBody>
      </p:sp>
      <p:sp>
        <p:nvSpPr>
          <p:cNvPr id="12" name="Oval 11 ::layer=accent"/>
          <p:cNvSpPr/>
          <p:nvPr/>
        </p:nvSpPr>
        <p:spPr>
          <a:xfrm>
            <a:off x="8028431" y="3090672"/>
            <a:ext cx="310896" cy="310896"/>
          </a:xfrm>
          <a:prstGeom prst="ellipse">
            <a:avLst/>
          </a:prstGeom>
          <a:solidFill>
            <a:srgbClr val="7FC8A9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13" name="TextBox 12 ::layer=content"/>
          <p:cNvSpPr txBox="1"/>
          <p:nvPr/>
        </p:nvSpPr>
        <p:spPr>
          <a:xfrm>
            <a:off x="7269480" y="356616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渲染</a:t>
            </a:r>
          </a:p>
        </p:txBody>
      </p:sp>
      <p:sp>
        <p:nvSpPr>
          <p:cNvPr id="14" name="Oval 13 ::layer=accent"/>
          <p:cNvSpPr/>
          <p:nvPr/>
        </p:nvSpPr>
        <p:spPr>
          <a:xfrm>
            <a:off x="10131552" y="3090672"/>
            <a:ext cx="310896" cy="310896"/>
          </a:xfrm>
          <a:prstGeom prst="ellipse">
            <a:avLst/>
          </a:prstGeom>
          <a:solidFill>
            <a:srgbClr val="7FC8A9"/>
          </a:solidFill>
          <a:ln w="19050">
            <a:solidFill>
              <a:srgbClr val="7FC8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1200" b="1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15" name="TextBox 14 ::layer=content"/>
          <p:cNvSpPr txBox="1"/>
          <p:nvPr/>
        </p:nvSpPr>
        <p:spPr>
          <a:xfrm>
            <a:off x="9372601" y="2103120"/>
            <a:ext cx="1828799" cy="9601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3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验证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真实案例：Blender Lookdev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" name="Picture 4 ::layer=content" descr="真实案例：Blender Lookdev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7640320" cy="4297680"/>
          </a:xfrm>
          <a:prstGeom prst="rect">
            <a:avLst/>
          </a:prstGeom>
          <a:effectLst/>
        </p:spPr>
      </p:pic>
      <p:sp>
        <p:nvSpPr>
          <p:cNvPr id="6" name="Rounded Rectangle 5 ::layer=content"/>
          <p:cNvSpPr/>
          <p:nvPr/>
        </p:nvSpPr>
        <p:spPr>
          <a:xfrm>
            <a:off x="6446520" y="1627632"/>
            <a:ext cx="4846320" cy="4297680"/>
          </a:xfrm>
          <a:prstGeom prst="roundRect">
            <a:avLst>
              <a:gd name="adj" fmla="val 5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来自 DCC 渲染管线的真实产物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图片左置 + 要点右侧面板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alt 文本随图片写入（可访问性）</a:t>
            </a:r>
          </a:p>
          <a:p>
            <a:pPr algn="l"/>
            <a:r>
              <a:rPr sz="14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●  缺失资产显式占位，绝不静默丢图</a:t>
            </a:r>
          </a:p>
        </p:txBody>
      </p:sp>
      <p:sp>
        <p:nvSpPr>
          <p:cNvPr id="7" name="TextBox 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09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覆盖的 DCC 工具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 ::layer=content" descr="May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7" name="TextBox 6 ::layer=content"/>
          <p:cNvSpPr txBox="1"/>
          <p:nvPr/>
        </p:nvSpPr>
        <p:spPr>
          <a:xfrm>
            <a:off x="8229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Maya</a:t>
            </a:r>
          </a:p>
        </p:txBody>
      </p:sp>
      <p:sp>
        <p:nvSpPr>
          <p:cNvPr id="8" name="Rounded Rectangle 7 ::layer=content"/>
          <p:cNvSpPr/>
          <p:nvPr/>
        </p:nvSpPr>
        <p:spPr>
          <a:xfrm>
            <a:off x="35090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9" name="Picture 8 ::layer=content" descr="Blend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4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0" name="TextBox 9 ::layer=content"/>
          <p:cNvSpPr txBox="1"/>
          <p:nvPr/>
        </p:nvSpPr>
        <p:spPr>
          <a:xfrm>
            <a:off x="35090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Blender</a:t>
            </a:r>
          </a:p>
        </p:txBody>
      </p:sp>
      <p:sp>
        <p:nvSpPr>
          <p:cNvPr id="11" name="Rounded Rectangle 10 ::layer=content"/>
          <p:cNvSpPr/>
          <p:nvPr/>
        </p:nvSpPr>
        <p:spPr>
          <a:xfrm>
            <a:off x="619506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Picture 11 ::layer=content" descr="Houdin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3" name="TextBox 12 ::layer=content"/>
          <p:cNvSpPr txBox="1"/>
          <p:nvPr/>
        </p:nvSpPr>
        <p:spPr>
          <a:xfrm>
            <a:off x="619506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Houdini</a:t>
            </a:r>
          </a:p>
        </p:txBody>
      </p:sp>
      <p:sp>
        <p:nvSpPr>
          <p:cNvPr id="14" name="Rounded Rectangle 13 ::layer=content"/>
          <p:cNvSpPr/>
          <p:nvPr/>
        </p:nvSpPr>
        <p:spPr>
          <a:xfrm>
            <a:off x="8881110" y="1627632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Picture 14 ::layer=content" descr="Photosho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2550" y="1682496"/>
            <a:ext cx="1207007" cy="1207007"/>
          </a:xfrm>
          <a:prstGeom prst="rect">
            <a:avLst/>
          </a:prstGeom>
          <a:effectLst/>
        </p:spPr>
      </p:pic>
      <p:sp>
        <p:nvSpPr>
          <p:cNvPr id="16" name="TextBox 15 ::layer=content"/>
          <p:cNvSpPr txBox="1"/>
          <p:nvPr/>
        </p:nvSpPr>
        <p:spPr>
          <a:xfrm>
            <a:off x="8881110" y="2889504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Photoshop</a:t>
            </a:r>
          </a:p>
        </p:txBody>
      </p:sp>
      <p:sp>
        <p:nvSpPr>
          <p:cNvPr id="17" name="Rounded Rectangle 16 ::layer=content"/>
          <p:cNvSpPr/>
          <p:nvPr/>
        </p:nvSpPr>
        <p:spPr>
          <a:xfrm>
            <a:off x="8229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 ::layer=content" descr="Unity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19" name="TextBox 18 ::layer=content"/>
          <p:cNvSpPr txBox="1"/>
          <p:nvPr/>
        </p:nvSpPr>
        <p:spPr>
          <a:xfrm>
            <a:off x="8229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Unity</a:t>
            </a:r>
          </a:p>
        </p:txBody>
      </p:sp>
      <p:sp>
        <p:nvSpPr>
          <p:cNvPr id="20" name="Rounded Rectangle 19 ::layer=content"/>
          <p:cNvSpPr/>
          <p:nvPr/>
        </p:nvSpPr>
        <p:spPr>
          <a:xfrm>
            <a:off x="35090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Picture 20 ::layer=content" descr="Unrea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04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2" name="TextBox 21 ::layer=content"/>
          <p:cNvSpPr txBox="1"/>
          <p:nvPr/>
        </p:nvSpPr>
        <p:spPr>
          <a:xfrm>
            <a:off x="35090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Unreal</a:t>
            </a:r>
          </a:p>
        </p:txBody>
      </p:sp>
      <p:sp>
        <p:nvSpPr>
          <p:cNvPr id="23" name="Rounded Rectangle 22 ::layer=content"/>
          <p:cNvSpPr/>
          <p:nvPr/>
        </p:nvSpPr>
        <p:spPr>
          <a:xfrm>
            <a:off x="619506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Picture 23 ::layer=content" descr="Nuk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5" name="TextBox 24 ::layer=content"/>
          <p:cNvSpPr txBox="1"/>
          <p:nvPr/>
        </p:nvSpPr>
        <p:spPr>
          <a:xfrm>
            <a:off x="619506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Nuke</a:t>
            </a:r>
          </a:p>
        </p:txBody>
      </p:sp>
      <p:sp>
        <p:nvSpPr>
          <p:cNvPr id="26" name="Rounded Rectangle 25 ::layer=content"/>
          <p:cNvSpPr/>
          <p:nvPr/>
        </p:nvSpPr>
        <p:spPr>
          <a:xfrm>
            <a:off x="8881110" y="3429000"/>
            <a:ext cx="2457450" cy="1572768"/>
          </a:xfrm>
          <a:prstGeom prst="roundRect">
            <a:avLst>
              <a:gd name="adj" fmla="val 8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Picture 26 ::layer=content" descr="3ds Max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72550" y="3483864"/>
            <a:ext cx="1207007" cy="1207007"/>
          </a:xfrm>
          <a:prstGeom prst="rect">
            <a:avLst/>
          </a:prstGeom>
          <a:effectLst/>
        </p:spPr>
      </p:pic>
      <p:sp>
        <p:nvSpPr>
          <p:cNvPr id="28" name="TextBox 27 ::layer=content"/>
          <p:cNvSpPr txBox="1"/>
          <p:nvPr/>
        </p:nvSpPr>
        <p:spPr>
          <a:xfrm>
            <a:off x="8881110" y="4690872"/>
            <a:ext cx="245745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1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3ds Max</a:t>
            </a:r>
          </a:p>
        </p:txBody>
      </p:sp>
      <p:sp>
        <p:nvSpPr>
          <p:cNvPr id="29" name="TextBox 2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30" name="TextBox 2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语义图层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原生 OOXML 标签 ::layer= 存活于 PowerPoint 往返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六个内置图层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background 整页背景 · decoration 幽灵圆/logo/分隔线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header 标题栏 · content 要点/卡片/图片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accent 强调条/圆点/连接线 · footer 页脚/页码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图层操作：显隐、z 序重排、重着色、形状归属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图层操作面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 ::layer=content"/>
          <p:cNvSpPr/>
          <p:nvPr/>
        </p:nvSpPr>
        <p:spPr>
          <a:xfrm>
            <a:off x="82296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1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layer_list 清点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118872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 ::layer=content"/>
          <p:cNvSpPr/>
          <p:nvPr/>
        </p:nvSpPr>
        <p:spPr>
          <a:xfrm>
            <a:off x="4389120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2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set_visibility 显隐</a:t>
            </a:r>
          </a:p>
        </p:txBody>
      </p:sp>
      <p:sp>
        <p:nvSpPr>
          <p:cNvPr id="8" name="Rectangle 7 ::layer=accent"/>
          <p:cNvSpPr/>
          <p:nvPr/>
        </p:nvSpPr>
        <p:spPr>
          <a:xfrm>
            <a:off x="4754880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 ::layer=content"/>
          <p:cNvSpPr/>
          <p:nvPr/>
        </p:nvSpPr>
        <p:spPr>
          <a:xfrm>
            <a:off x="7955279" y="162763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3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reorder 前后/上下</a:t>
            </a:r>
          </a:p>
        </p:txBody>
      </p:sp>
      <p:sp>
        <p:nvSpPr>
          <p:cNvPr id="10" name="Rectangle 9 ::layer=accent"/>
          <p:cNvSpPr/>
          <p:nvPr/>
        </p:nvSpPr>
        <p:spPr>
          <a:xfrm>
            <a:off x="8321039" y="162763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 ::layer=content"/>
          <p:cNvSpPr/>
          <p:nvPr/>
        </p:nvSpPr>
        <p:spPr>
          <a:xfrm>
            <a:off x="82296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4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recolor 重着色</a:t>
            </a:r>
          </a:p>
        </p:txBody>
      </p:sp>
      <p:sp>
        <p:nvSpPr>
          <p:cNvPr id="12" name="Rectangle 11 ::layer=accent"/>
          <p:cNvSpPr/>
          <p:nvPr/>
        </p:nvSpPr>
        <p:spPr>
          <a:xfrm>
            <a:off x="118872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 ::layer=content"/>
          <p:cNvSpPr/>
          <p:nvPr/>
        </p:nvSpPr>
        <p:spPr>
          <a:xfrm>
            <a:off x="4389120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5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assign 归属</a:t>
            </a:r>
          </a:p>
        </p:txBody>
      </p:sp>
      <p:sp>
        <p:nvSpPr>
          <p:cNvPr id="14" name="Rectangle 13 ::layer=accent"/>
          <p:cNvSpPr/>
          <p:nvPr/>
        </p:nvSpPr>
        <p:spPr>
          <a:xfrm>
            <a:off x="4754880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 ::layer=content"/>
          <p:cNvSpPr/>
          <p:nvPr/>
        </p:nvSpPr>
        <p:spPr>
          <a:xfrm>
            <a:off x="7955279" y="3547872"/>
            <a:ext cx="3291840" cy="1691640"/>
          </a:xfrm>
          <a:prstGeom prst="roundRect">
            <a:avLst>
              <a:gd name="adj" fmla="val 7000"/>
            </a:avLst>
          </a:prstGeom>
          <a:solidFill>
            <a:srgbClr val="1E2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76200" bIns="76200"/>
          <a:lstStyle/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6</a:t>
            </a:r>
          </a:p>
          <a:p>
            <a:pPr algn="ctr"/>
            <a:r>
              <a:rPr sz="2600" b="0">
                <a:solidFill>
                  <a:srgbClr val="7FC8A9"/>
                </a:solidFill>
                <a:latin typeface="Segoe UI"/>
                <a:ea typeface="Microsoft YaHei"/>
                <a:cs typeface="Segoe UI"/>
              </a:rPr>
              <a:t>按幻灯片范围</a:t>
            </a:r>
          </a:p>
        </p:txBody>
      </p:sp>
      <p:sp>
        <p:nvSpPr>
          <p:cNvPr id="16" name="Rectangle 15 ::layer=accent"/>
          <p:cNvSpPr/>
          <p:nvPr/>
        </p:nvSpPr>
        <p:spPr>
          <a:xfrm>
            <a:off x="8321039" y="3547872"/>
            <a:ext cx="502920" cy="5080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8" name="TextBox 17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F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9601200" y="320040"/>
            <a:ext cx="2468880" cy="246888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 ::layer=decoration"/>
          <p:cNvSpPr txBox="1"/>
          <p:nvPr/>
        </p:nvSpPr>
        <p:spPr>
          <a:xfrm>
            <a:off x="640080" y="640080"/>
            <a:ext cx="4572000" cy="38404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0000" b="1">
                <a:solidFill>
                  <a:srgbClr val="223047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6" name="Rectangle 5 ::layer=accent"/>
          <p:cNvSpPr/>
          <p:nvPr/>
        </p:nvSpPr>
        <p:spPr>
          <a:xfrm>
            <a:off x="822960" y="2788920"/>
            <a:ext cx="164592" cy="109728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 ::layer=header"/>
          <p:cNvSpPr txBox="1"/>
          <p:nvPr/>
        </p:nvSpPr>
        <p:spPr>
          <a:xfrm>
            <a:off x="1188720" y="2743200"/>
            <a:ext cx="10058400" cy="12801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44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补丁引擎与插件</a:t>
            </a:r>
          </a:p>
        </p:txBody>
      </p:sp>
      <p:sp>
        <p:nvSpPr>
          <p:cNvPr id="8" name="TextBox 7 ::layer=content"/>
          <p:cNvSpPr txBox="1"/>
          <p:nvPr/>
        </p:nvSpPr>
        <p:spPr>
          <a:xfrm>
            <a:off x="1234440" y="4114800"/>
            <a:ext cx="9601200" cy="54864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5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ppt-patch/1.0 全有或全无 · plugin.json 隔离子进程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0" name="TextBox 9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补丁操作面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set_text / set_notes：文本与备注替换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set_image / set_shape_fill / set_shape_line：媒体与样式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set_shape_visible / delete_shape：显隐与删除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add_slide / delete_slide / move_slide：页面结构</a:t>
            </a:r>
          </a:p>
        </p:txBody>
      </p:sp>
      <p:sp>
        <p:nvSpPr>
          <p:cNvPr id="16" name="Rectangle 15 ::layer=decoration"/>
          <p:cNvSpPr/>
          <p:nvPr/>
        </p:nvSpPr>
        <p:spPr>
          <a:xfrm>
            <a:off x="822960" y="5294376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 ::layer=accent"/>
          <p:cNvSpPr/>
          <p:nvPr/>
        </p:nvSpPr>
        <p:spPr>
          <a:xfrm>
            <a:off x="868680" y="5513831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 ::layer=content"/>
          <p:cNvSpPr txBox="1"/>
          <p:nvPr/>
        </p:nvSpPr>
        <p:spPr>
          <a:xfrm>
            <a:off x="1234440" y="5358383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assign_layer：形状归属图层</a:t>
            </a:r>
          </a:p>
        </p:txBody>
      </p:sp>
      <p:sp>
        <p:nvSpPr>
          <p:cNvPr id="19" name="Rectangle 18 ::layer=decoration"/>
          <p:cNvSpPr/>
          <p:nvPr/>
        </p:nvSpPr>
        <p:spPr>
          <a:xfrm>
            <a:off x="822960" y="6227064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 ::layer=accent"/>
          <p:cNvSpPr/>
          <p:nvPr/>
        </p:nvSpPr>
        <p:spPr>
          <a:xfrm>
            <a:off x="868680" y="6446519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 ::layer=content"/>
          <p:cNvSpPr txBox="1"/>
          <p:nvPr/>
        </p:nvSpPr>
        <p:spPr>
          <a:xfrm>
            <a:off x="1234440" y="6291071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选择器无坐标：slide + layer + shape + id + index</a:t>
            </a:r>
          </a:p>
        </p:txBody>
      </p:sp>
      <p:sp>
        <p:nvSpPr>
          <p:cNvPr id="22" name="TextBox 21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23" name="TextBox 22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 ::layer=header"/>
          <p:cNvSpPr txBox="1"/>
          <p:nvPr/>
        </p:nvSpPr>
        <p:spPr>
          <a:xfrm>
            <a:off x="822960" y="502920"/>
            <a:ext cx="10515600" cy="68580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28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插件注册表</a:t>
            </a:r>
          </a:p>
        </p:txBody>
      </p:sp>
      <p:sp>
        <p:nvSpPr>
          <p:cNvPr id="4" name="Rectangle 3 ::layer=accent"/>
          <p:cNvSpPr/>
          <p:nvPr/>
        </p:nvSpPr>
        <p:spPr>
          <a:xfrm>
            <a:off x="822960" y="1298448"/>
            <a:ext cx="822960" cy="44450"/>
          </a:xfrm>
          <a:prstGeom prst="rect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 ::layer=accent"/>
          <p:cNvSpPr/>
          <p:nvPr/>
        </p:nvSpPr>
        <p:spPr>
          <a:xfrm>
            <a:off x="868680" y="1783080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 ::layer=content"/>
          <p:cNvSpPr txBox="1"/>
          <p:nvPr/>
        </p:nvSpPr>
        <p:spPr>
          <a:xfrm>
            <a:off x="1234440" y="1627632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plugin.json 契约：name/version/script/interpreter/schema</a:t>
            </a:r>
          </a:p>
        </p:txBody>
      </p:sp>
      <p:sp>
        <p:nvSpPr>
          <p:cNvPr id="7" name="Rectangle 6 ::layer=decoration"/>
          <p:cNvSpPr/>
          <p:nvPr/>
        </p:nvSpPr>
        <p:spPr>
          <a:xfrm>
            <a:off x="822960" y="2496312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Oval 7 ::layer=accent"/>
          <p:cNvSpPr/>
          <p:nvPr/>
        </p:nvSpPr>
        <p:spPr>
          <a:xfrm>
            <a:off x="868680" y="2715768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 ::layer=content"/>
          <p:cNvSpPr txBox="1"/>
          <p:nvPr/>
        </p:nvSpPr>
        <p:spPr>
          <a:xfrm>
            <a:off x="1234440" y="2560320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显式发现根：DCC_POWERPOINT_PLUGIN_PATH + 用户目录</a:t>
            </a:r>
          </a:p>
        </p:txBody>
      </p:sp>
      <p:sp>
        <p:nvSpPr>
          <p:cNvPr id="10" name="Rectangle 9 ::layer=decoration"/>
          <p:cNvSpPr/>
          <p:nvPr/>
        </p:nvSpPr>
        <p:spPr>
          <a:xfrm>
            <a:off x="822960" y="3429000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 ::layer=accent"/>
          <p:cNvSpPr/>
          <p:nvPr/>
        </p:nvSpPr>
        <p:spPr>
          <a:xfrm>
            <a:off x="868680" y="3648456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 ::layer=content"/>
          <p:cNvSpPr txBox="1"/>
          <p:nvPr/>
        </p:nvSpPr>
        <p:spPr>
          <a:xfrm>
            <a:off x="1234440" y="3493008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隔离子进程：stdin JSON → stdout 单 JSON 结果</a:t>
            </a:r>
          </a:p>
        </p:txBody>
      </p:sp>
      <p:sp>
        <p:nvSpPr>
          <p:cNvPr id="13" name="Rectangle 12 ::layer=decoration"/>
          <p:cNvSpPr/>
          <p:nvPr/>
        </p:nvSpPr>
        <p:spPr>
          <a:xfrm>
            <a:off x="822960" y="4361688"/>
            <a:ext cx="10515600" cy="15240"/>
          </a:xfrm>
          <a:prstGeom prst="rect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 ::layer=accent"/>
          <p:cNvSpPr/>
          <p:nvPr/>
        </p:nvSpPr>
        <p:spPr>
          <a:xfrm>
            <a:off x="868680" y="4581144"/>
            <a:ext cx="165100" cy="165100"/>
          </a:xfrm>
          <a:prstGeom prst="ellipse">
            <a:avLst/>
          </a:prstGeom>
          <a:solidFill>
            <a:srgbClr val="7FC8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 ::layer=content"/>
          <p:cNvSpPr txBox="1"/>
          <p:nvPr/>
        </p:nvSpPr>
        <p:spPr>
          <a:xfrm>
            <a:off x="1234440" y="4425696"/>
            <a:ext cx="10012680" cy="82296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650" b="0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永不自动下载、永不 import 插件代码</a:t>
            </a:r>
          </a:p>
        </p:txBody>
      </p:sp>
      <p:sp>
        <p:nvSpPr>
          <p:cNvPr id="16" name="TextBox 15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17" name="TextBox 16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 ::layer=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 ::layer=decoration"/>
          <p:cNvSpPr/>
          <p:nvPr/>
        </p:nvSpPr>
        <p:spPr>
          <a:xfrm>
            <a:off x="320040" y="320040"/>
            <a:ext cx="2651760" cy="2651760"/>
          </a:xfrm>
          <a:prstGeom prst="ellipse">
            <a:avLst/>
          </a:prstGeom>
          <a:solidFill>
            <a:srgbClr val="223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 ::layer=decoration" descr="DCC-MCP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1965960"/>
            <a:ext cx="1645920" cy="731520"/>
          </a:xfrm>
          <a:prstGeom prst="rect">
            <a:avLst/>
          </a:prstGeom>
          <a:effectLst/>
        </p:spPr>
      </p:pic>
      <p:sp>
        <p:nvSpPr>
          <p:cNvPr id="6" name="TextBox 5 ::layer=header"/>
          <p:cNvSpPr txBox="1"/>
          <p:nvPr/>
        </p:nvSpPr>
        <p:spPr>
          <a:xfrm>
            <a:off x="1371600" y="3063240"/>
            <a:ext cx="9418320" cy="10972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4600" b="1">
                <a:solidFill>
                  <a:srgbClr val="E8ECF2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7" name="TextBox 6 ::layer=content"/>
          <p:cNvSpPr txBox="1"/>
          <p:nvPr/>
        </p:nvSpPr>
        <p:spPr>
          <a:xfrm>
            <a:off x="1371600" y="4343400"/>
            <a:ext cx="9418320" cy="64008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ctr"/>
            <a:r>
              <a:rPr sz="16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· 让 AI 做高品质幻灯片</a:t>
            </a:r>
          </a:p>
        </p:txBody>
      </p:sp>
      <p:sp>
        <p:nvSpPr>
          <p:cNvPr id="8" name="TextBox 7 ::layer=footer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  <a:effectLst/>
        </p:spPr>
        <p:txBody>
          <a:bodyPr wrap="square" lIns="50800" rIns="50800">
            <a:spAutoFit/>
          </a:bodyPr>
          <a:lstStyle/>
          <a:p>
            <a:pPr algn="l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dcc-mcp-PowerPoint 能力边界</a:t>
            </a:r>
          </a:p>
        </p:txBody>
      </p:sp>
      <p:sp>
        <p:nvSpPr>
          <p:cNvPr id="9" name="TextBox 8 ::layer=footer"/>
          <p:cNvSpPr txBox="1"/>
          <p:nvPr/>
        </p:nvSpPr>
        <p:spPr>
          <a:xfrm>
            <a:off x="10728655" y="6400800"/>
            <a:ext cx="1097280" cy="320040"/>
          </a:xfrm>
          <a:prstGeom prst="rect">
            <a:avLst/>
          </a:prstGeom>
          <a:noFill/>
          <a:effectLst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9AA7BC"/>
                </a:solidFill>
                <a:latin typeface="Segoe UI"/>
                <a:ea typeface="Microsoft YaHei"/>
                <a:cs typeface="Segoe UI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